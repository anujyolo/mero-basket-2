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2ffc32f7e4a44" /><Relationship Type="http://schemas.openxmlformats.org/officeDocument/2006/relationships/extended-properties" Target="/docProps/app.xml" Id="R3c032b198f4146e5" /><Relationship Type="http://schemas.openxmlformats.org/officeDocument/2006/relationships/officeDocument" Target="/ppt/presentation.xml" Id="R48b5f27fcb41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53c952894d431e"/>
  </p:sldMasterIdLst>
  <p:notesMasterIdLst>
    <p:notesMasterId xmlns:r="http://schemas.openxmlformats.org/officeDocument/2006/relationships" r:id="R06b27f8dbed94bef"/>
  </p:notesMasterIdLst>
  <p:sldIdLst>
    <p:sldId xmlns:r="http://schemas.openxmlformats.org/officeDocument/2006/relationships" id="256" r:id="R1b496dca65324fd2"/>
    <p:sldId xmlns:r="http://schemas.openxmlformats.org/officeDocument/2006/relationships" id="257" r:id="R6e313abc44d74ac9"/>
    <p:sldId xmlns:r="http://schemas.openxmlformats.org/officeDocument/2006/relationships" id="258" r:id="R3377ed1656d74e4c"/>
    <p:sldId xmlns:r="http://schemas.openxmlformats.org/officeDocument/2006/relationships" id="259" r:id="R05f542b9b6d64c80"/>
    <p:sldId xmlns:r="http://schemas.openxmlformats.org/officeDocument/2006/relationships" id="260" r:id="R546e6280d3fa4c2f"/>
    <p:sldId xmlns:r="http://schemas.openxmlformats.org/officeDocument/2006/relationships" id="261" r:id="R1ac694e0b2b54205"/>
    <p:sldId xmlns:r="http://schemas.openxmlformats.org/officeDocument/2006/relationships" id="262" r:id="Ra68e6d8fe36740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ce9be4c5524ebb" /><Relationship Type="http://schemas.openxmlformats.org/officeDocument/2006/relationships/slideMaster" Target="/ppt/slideMasters/slideMaster1.xml" Id="R2553c952894d431e" /><Relationship Type="http://schemas.openxmlformats.org/officeDocument/2006/relationships/notesMaster" Target="/ppt/notesMasters/notesMaster1.xml" Id="R06b27f8dbed94bef" /><Relationship Type="http://schemas.openxmlformats.org/officeDocument/2006/relationships/presProps" Target="/ppt/presProps.xml" Id="R8cf6e3854578400d" /><Relationship Type="http://schemas.openxmlformats.org/officeDocument/2006/relationships/tableStyles" Target="/ppt/tableStyles.xml" Id="R17eab64a0c994950" /><Relationship Type="http://schemas.openxmlformats.org/officeDocument/2006/relationships/slide" Target="/ppt/slides/slide1.xml" Id="R1b496dca65324fd2" /><Relationship Type="http://schemas.openxmlformats.org/officeDocument/2006/relationships/slide" Target="/ppt/slides/slide2.xml" Id="R6e313abc44d74ac9" /><Relationship Type="http://schemas.openxmlformats.org/officeDocument/2006/relationships/slide" Target="/ppt/slides/slide3.xml" Id="R3377ed1656d74e4c" /><Relationship Type="http://schemas.openxmlformats.org/officeDocument/2006/relationships/slide" Target="/ppt/slides/slide4.xml" Id="R05f542b9b6d64c80" /><Relationship Type="http://schemas.openxmlformats.org/officeDocument/2006/relationships/slide" Target="/ppt/slides/slide5.xml" Id="R546e6280d3fa4c2f" /><Relationship Type="http://schemas.openxmlformats.org/officeDocument/2006/relationships/slide" Target="/ppt/slides/slide6.xml" Id="R1ac694e0b2b54205" /><Relationship Type="http://schemas.openxmlformats.org/officeDocument/2006/relationships/slide" Target="/ppt/slides/slide7.xml" Id="Ra68e6d8fe36740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98e4708b949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dbb233c62c4623" /><Relationship Type="http://schemas.openxmlformats.org/officeDocument/2006/relationships/notesMaster" Target="/ppt/notesMasters/notesMaster1.xml" Id="R6baeb2c3419e49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68d54f8c545e9" /><Relationship Type="http://schemas.openxmlformats.org/officeDocument/2006/relationships/notesMaster" Target="/ppt/notesMasters/notesMaster1.xml" Id="Red0c02bf66ef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a2979b37c14d44" /><Relationship Type="http://schemas.openxmlformats.org/officeDocument/2006/relationships/notesMaster" Target="/ppt/notesMasters/notesMaster1.xml" Id="R272a608d55f8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72fae04d14d07" /><Relationship Type="http://schemas.openxmlformats.org/officeDocument/2006/relationships/notesMaster" Target="/ppt/notesMasters/notesMaster1.xml" Id="Ra51465758ea9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f1489dcfd43c4" /><Relationship Type="http://schemas.openxmlformats.org/officeDocument/2006/relationships/notesMaster" Target="/ppt/notesMasters/notesMaster1.xml" Id="R2ff01ce2538f49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f34814c23498f" /><Relationship Type="http://schemas.openxmlformats.org/officeDocument/2006/relationships/notesMaster" Target="/ppt/notesMasters/notesMaster1.xml" Id="R4cc18d1958cd46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b888eb4f7c43c2" /><Relationship Type="http://schemas.openxmlformats.org/officeDocument/2006/relationships/notesMaster" Target="/ppt/notesMasters/notesMaster1.xml" Id="R59c5266f32e741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generated for this presentation: premium ERP analytics concept with no readable data values.</a:t>
            </a:r>
          </a:p>
          <a:p xmlns:a="http://schemas.openxmlformats.org/drawingml/2006/main">
            <a:r>
              <a:t>- Product context from the current AG Health ERP dashboard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Problem framing based on user requirements for a simpler CEO-friendly ERP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 flow based on the implemented AG Health dashboard and mapped Business Central feeds.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 hierarchy based on the revised AG Health dashboard: verified financial cards first, operational cards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list from the current AG Health application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Chatbot behavior from src/app/ag-health/AgHealthChatbot.tsx.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capabilities from current AG Health implementation and user-provided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95ce33e8543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7e3ac7a55547b1" /><Relationship Type="http://schemas.openxmlformats.org/officeDocument/2006/relationships/slideLayout" Target="/ppt/slideLayouts/slideLayout1.xml" Id="R029ea590b1324b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ea590b1324b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86b5953464f43" /><Relationship Type="http://schemas.openxmlformats.org/officeDocument/2006/relationships/image" Target="/ppt/media/image.png" Id="Ra8498958ae0b458d" /><Relationship Type="http://schemas.openxmlformats.org/officeDocument/2006/relationships/notesSlide" Target="/ppt/notesSlides/notesSlide1.xml" Id="R55985ca3105741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d53df4dfb4088" /><Relationship Type="http://schemas.openxmlformats.org/officeDocument/2006/relationships/notesSlide" Target="/ppt/notesSlides/notesSlide2.xml" Id="R5067eab32bb948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3a89fd5654019" /><Relationship Type="http://schemas.openxmlformats.org/officeDocument/2006/relationships/notesSlide" Target="/ppt/notesSlides/notesSlide3.xml" Id="R1733142303284b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89342324f4786" /><Relationship Type="http://schemas.openxmlformats.org/officeDocument/2006/relationships/notesSlide" Target="/ppt/notesSlides/notesSlide4.xml" Id="R0ea1e2b485ad43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2782b49694f72" /><Relationship Type="http://schemas.openxmlformats.org/officeDocument/2006/relationships/notesSlide" Target="/ppt/notesSlides/notesSlide5.xml" Id="R5518a573dd7b48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5856342724ae1" /><Relationship Type="http://schemas.openxmlformats.org/officeDocument/2006/relationships/notesSlide" Target="/ppt/notesSlides/notesSlide6.xml" Id="Rd2e5c845a5c842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dc4e05bb34777" /><Relationship Type="http://schemas.openxmlformats.org/officeDocument/2006/relationships/notesSlide" Target="/ppt/notesSlides/notesSlide7.xml" Id="Rc258ff7f946543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01CB8-1C48-4D31-8955-39C7E0C4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F407-5863-4D97-BB3B-DFBCA95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D3740-9A5B-4D8D-BFCA-B77562DE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BE2D"/>
                </a:solidFill>
              </a:defRPr>
            </a:pPr>
            <a:r>
              <a:rPr sz="1200" b="1">
                <a:solidFill>
                  <a:srgbClr val="E2BE2D"/>
                </a:solidFill>
              </a:rPr>
              <a:t>AG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D0D8C-8459-4CC6-950E-A50C0243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A smarter way to see factory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023B7-7957-4C8B-B5F5-C185731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16173"/>
                </a:solidFill>
              </a:defRPr>
            </a:pPr>
            <a:r>
              <a:rPr sz="1800" b="0">
                <a:solidFill>
                  <a:srgbClr val="516173"/>
                </a:solidFill>
              </a:rPr>
              <a:t>A premium ERP intelligence layer for management: live insight, cleaner reporting, and faster decisions without spreadsheet hunting.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98958ae0b458d"/>
          <a:srcRect xmlns:a="http://schemas.openxmlformats.org/drawingml/2006/main" l="12841" t="0" r="128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781050"/>
            <a:ext cx="4905375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BE9C4-CD25-48BC-A821-E6C75517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190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642A4-B67B-411F-B202-F81F05FF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5F"/>
                </a:solidFill>
              </a:defRPr>
            </a:pPr>
            <a:r>
              <a:rPr sz="1275" b="1">
                <a:solidFill>
                  <a:srgbClr val="17375F"/>
                </a:solidFill>
              </a:rPr>
              <a:t>Live ERP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77E8D-40EC-4547-A208-DC7DA1B1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2190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BC688-F3B2-44C9-B1B5-BD80402C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5F"/>
                </a:solidFill>
              </a:defRPr>
            </a:pPr>
            <a:r>
              <a:rPr sz="1275" b="1">
                <a:solidFill>
                  <a:srgbClr val="17375F"/>
                </a:solidFill>
              </a:rPr>
              <a:t>Clean dashboards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1B19F-6B7D-4E6F-8B7E-6E654A4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2190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24103-0E47-4D22-A7CA-261E3B55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768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5F"/>
                </a:solidFill>
              </a:defRPr>
            </a:pPr>
            <a:r>
              <a:rPr sz="1275" b="1">
                <a:solidFill>
                  <a:srgbClr val="17375F"/>
                </a:solidFill>
              </a:rPr>
              <a:t>Ask data</a:t>
            </a:r>
          </a:p>
        </p:txBody>
      </p:sp>
    </p:spTree>
    <p:extLst>
      <p:ext uri="{BB962C8B-B14F-4D97-AF65-F5344CB8AC3E}">
        <p14:creationId xmlns:p14="http://schemas.microsoft.com/office/powerpoint/2010/main" val="378029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CDED3-7D46-47C2-B145-EC4A2566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3E757-8318-4006-BDDE-24F514FB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1C2AC-7094-42E2-AB04-CEEDEDB6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E2D"/>
                </a:solidFill>
              </a:defRPr>
            </a:pPr>
            <a:r>
              <a:rPr sz="1125" b="1">
                <a:solidFill>
                  <a:srgbClr val="E2BE2D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AC00C-0EE7-4586-B9E5-7C2954DC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Good data is there, but it is too hard to 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97E07-09F8-48B8-860A-84D514F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Management should not need to open multiple ERP screens just to understand what is happening.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D1336-1645-4155-8580-C9AA6030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287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F9987-DA30-4B13-848B-28C548D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143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6A083-734B-4E11-8ADD-24A85147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2A3DA-7B84-4C9A-AE1F-32B6F32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Scattered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DC723-BA01-4DDE-B154-CC4CFF6D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Sales, orders, stock, production, and freight live in different places.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EEA5B-CA4D-4C70-B8CB-F1114D4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3143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E9D6C-0E24-4C5A-8C54-2BF04222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48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7D976-6214-4C44-BFCF-B4292776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Slow answers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35F16-21E2-4475-93F7-24467A02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05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Simple business questions take too many clicks and manual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DCBF2-1591-409D-A376-4B0A430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3143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CF6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AFBE5-C5A9-443C-A58A-C4C1302A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6679E-9168-46F9-87B3-F6AC9E50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Low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3AA3B-054C-4799-AFDF-104F7EB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When numbers are unclear, teams spend time verifying instead of deciding.</a:t>
            </a:r>
          </a:p>
        </p:txBody>
      </p:sp>
    </p:spTree>
    <p:extLst>
      <p:ext uri="{BB962C8B-B14F-4D97-AF65-F5344CB8AC3E}">
        <p14:creationId xmlns:p14="http://schemas.microsoft.com/office/powerpoint/2010/main" val="639210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12B66-2887-47AF-8F0B-590D49C6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BC723-4041-45A7-9751-489700BD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1BD33-E2D9-4F10-BE6C-61DF5C9D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E2D"/>
                </a:solidFill>
              </a:defRPr>
            </a:pPr>
            <a:r>
              <a:rPr sz="1125" b="1">
                <a:solidFill>
                  <a:srgbClr val="E2BE2D"/>
                </a:solidFill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1E578-48ED-46BA-A89B-B7A52DE6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One calm executive layer over Business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5B9A0-BA5C-4A96-8599-EA8C9D8D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The system turns mapped ERP feeds into separate, easy-to-understand business views.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3848D-64F6-4084-BBF0-4EB1615E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0375"/>
            <a:ext cx="2857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75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16E44-17E9-472E-A844-ED0DE48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1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Business Central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1B45-B459-4FE0-ADC2-2D83126F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8"/>
                </a:solidFill>
              </a:defRPr>
            </a:pPr>
            <a:r>
              <a:rPr sz="1350" b="0">
                <a:solidFill>
                  <a:srgbClr val="DCE8F8"/>
                </a:solidFill>
              </a:rPr>
              <a:t>Live source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8D762-A10F-4ED1-83CF-949296E0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7620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2B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FCD6B-CAA4-4003-9215-F068A42F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14625"/>
            <a:ext cx="2857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D73E5-E511-47FE-8BB5-F839476A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95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Clean calculation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EC8D5-F85C-45BD-992C-17BC593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Filter, group, explain, and separate each module.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9C167-8B3A-4731-A541-554F126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7620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2B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3FB82-B5D0-48AD-90CE-F6B789E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00375"/>
            <a:ext cx="142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0C2CC-76A8-4503-AD24-E27C96B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1D3E7-DA11-482D-BAAB-C1EB0EE8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Ready view</a:t>
            </a:r>
          </a:p>
        </p:txBody>
      </p:sp>
    </p:spTree>
    <p:extLst>
      <p:ext uri="{BB962C8B-B14F-4D97-AF65-F5344CB8AC3E}">
        <p14:creationId xmlns:p14="http://schemas.microsoft.com/office/powerpoint/2010/main" val="354947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030ED-42CF-405A-8C53-6373083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3D543-A08F-45BD-AD20-042591A0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D2765-8372-4E13-92E4-085590FF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E2D"/>
                </a:solidFill>
              </a:defRPr>
            </a:pPr>
            <a:r>
              <a:rPr sz="1125" b="1">
                <a:solidFill>
                  <a:srgbClr val="E2BE2D"/>
                </a:solidFill>
              </a:rPr>
              <a:t>EXECUTIVE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09E99-46E4-4401-AA01-D962A339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The top view stays simple on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CD3EF-2330-4E3B-B417-AD9930A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Only trusted financial signals lead the dashboard. Operational indicators sit below with clear explanations.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8D841-EEF9-4BB6-8668-2A2A1086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31051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C4323-04E0-47A0-BD7C-569877C5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31051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20365-7EA6-4A4F-B240-1A414A6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31051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02C76-FE03-446F-82B6-A38241F3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75F"/>
                </a:solidFill>
              </a:defRPr>
            </a:pPr>
            <a:r>
              <a:rPr sz="2175" b="1">
                <a:solidFill>
                  <a:srgbClr val="17375F"/>
                </a:solidFill>
              </a:rPr>
              <a:t>Sales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5DEC8-5095-4AF1-B6FC-5B4B6477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What is moving through the business.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8818E-9E55-45FE-AEEF-CBB4EE7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78DD"/>
                </a:solidFill>
              </a:defRPr>
            </a:pPr>
            <a:r>
              <a:rPr sz="2175" b="1">
                <a:solidFill>
                  <a:srgbClr val="3D78DD"/>
                </a:solidFill>
              </a:rPr>
              <a:t>Receivables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DF0AE-7347-41C6-A292-A6EA9807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62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What customers still need to pay.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A9F62-2312-45D3-8762-36F61A4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77D00"/>
                </a:solidFill>
              </a:defRPr>
            </a:pPr>
            <a:r>
              <a:rPr sz="2175" b="1">
                <a:solidFill>
                  <a:srgbClr val="A77D00"/>
                </a:solidFill>
              </a:rPr>
              <a:t>Bank 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B2420-4433-44E6-A688-52F47D0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62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What finance can verify from the ledger.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39A40-A272-4EB9-A054-59A17DEA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result: a CEO can understand the state of the business before opening the detailed pages.</a:t>
            </a:r>
          </a:p>
        </p:txBody>
      </p:sp>
    </p:spTree>
    <p:extLst>
      <p:ext uri="{BB962C8B-B14F-4D97-AF65-F5344CB8AC3E}">
        <p14:creationId xmlns:p14="http://schemas.microsoft.com/office/powerpoint/2010/main" val="1774344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333ED-EF04-4D43-8E75-E30ACBD6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92344-6049-4714-8550-0F5BD44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B49A3-9B9E-4AE1-A064-5ACA47B6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E2D"/>
                </a:solidFill>
              </a:defRPr>
            </a:pPr>
            <a:r>
              <a:rPr sz="1125" b="1">
                <a:solidFill>
                  <a:srgbClr val="E2BE2D"/>
                </a:solidFill>
              </a:rPr>
              <a:t>BUSINESS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0E5D3-DA04-4487-9290-DF44FFE4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Every module has a clean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92FB5-7CB6-450D-A162-09E56538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The system avoids mixing unrelated data so each page answers one kind of business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41292-D16D-4CD0-9469-EA82F46F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8C1B4-D0A4-473B-8879-3D77450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D49F2-5341-49B1-8675-C61ECD2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C7349-6E3E-4C91-9465-6B55EB06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909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What do we have?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4CE75-6F45-48BE-AEE1-1FE62E3A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1E40C-DD5D-416A-899F-C863EB0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2721B-9030-4196-AE8C-352A8EF5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D4265-3166-4987-AF8F-9937BB4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909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What supports production?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FEF65-8F0F-4979-B67E-6098D351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064F-A1D0-40CB-8C32-5C55EF0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6B1C4-BB0A-4FD5-B256-E9828944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966C1-F047-428C-8634-3D4B094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909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What was made?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619DA-9331-4F85-AA8D-D166DA19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14800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0B800-43B1-4D84-A303-3E308F7F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190BE-5410-4431-8EB0-0B4D9E3B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6F745-FFDA-400E-B797-CFDF3E2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48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What was sold?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FA3BC-CDDE-4884-8B45-69FC7A73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14800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2C355-9941-4952-BBF2-EB4B796E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662A0-83EF-4F58-9D46-141D68A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Freight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F644B-4C00-4119-B5E7-386EA56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48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What did delivery cost?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BE66F-DE9D-4C06-AC7C-EB28C47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14800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11736-C5E8-45F5-96D4-704F96F4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60DE9-A128-4347-BF09-1ADCE526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Orders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FD4CA-8943-403E-A022-28EB2430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48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What is pending?</a:t>
            </a:r>
          </a:p>
        </p:txBody>
      </p:sp>
    </p:spTree>
    <p:extLst>
      <p:ext uri="{BB962C8B-B14F-4D97-AF65-F5344CB8AC3E}">
        <p14:creationId xmlns:p14="http://schemas.microsoft.com/office/powerpoint/2010/main" val="1883776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197EF-325B-4A69-8AB3-41328C9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628AE-85C8-42C9-BB14-00EBA64B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E78B1-CC00-4E9D-B951-904957BF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E2D"/>
                </a:solidFill>
              </a:defRPr>
            </a:pPr>
            <a:r>
              <a:rPr sz="1125" b="1">
                <a:solidFill>
                  <a:srgbClr val="E2BE2D"/>
                </a:solidFill>
              </a:rPr>
              <a:t>DATA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D0968-F02E-4EC9-81F3-85252A13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Managers can ask the system directly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AAAD6-30B2-47CA-9808-09030CA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The chatbot answers from mapped ERP data only, so it helps users find information without inventing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F6063-69F7-4554-B1A5-879FA09D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4095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B6D4F-C5AB-4192-A927-F16B6C6D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Ask natural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10F13-1F7C-4DBA-8C42-8D8BC5B5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“Show sales summary”</a:t>
            </a:r>
          </a:p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“What is packing stock?”</a:t>
            </a:r>
          </a:p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“Which orders are pending?”</a:t>
            </a:r>
          </a:p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“Where does this number come from?”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0F457-4C67-411F-86E2-09C9E20E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095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8F032-B331-48B2-8BAD-A164C14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75F"/>
                </a:solidFill>
              </a:defRPr>
            </a:pPr>
            <a:r>
              <a:rPr sz="2250" b="1">
                <a:solidFill>
                  <a:srgbClr val="17375F"/>
                </a:solidFill>
              </a:rPr>
              <a:t>Answers stay grounded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26D1F-69E9-4F42-8C37-70BA84A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The assistant reads the same live summary API as the dashboard and explains the source behind each answer.</a:t>
            </a:r>
          </a:p>
        </p:txBody>
      </p:sp>
    </p:spTree>
    <p:extLst>
      <p:ext uri="{BB962C8B-B14F-4D97-AF65-F5344CB8AC3E}">
        <p14:creationId xmlns:p14="http://schemas.microsoft.com/office/powerpoint/2010/main" val="1904210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510C3-6577-4267-A926-9B33E6E5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5ABFE-DAE2-45E0-A681-349C333A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410EC-CC2B-4D55-B04A-70FAE5D6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E2D"/>
                </a:solidFill>
              </a:defRPr>
            </a:pPr>
            <a:r>
              <a:rPr sz="1125" b="1">
                <a:solidFill>
                  <a:srgbClr val="E2BE2D"/>
                </a:solidFill>
              </a:rPr>
              <a:t>FINAL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C8BAE-F47F-49F1-9E60-8C8B797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This is the decision layer AG Health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4AC6D-9672-4777-8E87-CDF8587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The project brings ERP data, clean dashboards, focused modules, and question-based reporting into one management-ready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A0002-92B8-4A5D-A299-9A21D1D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99822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3509A-2D3E-4C80-960D-43F7B149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Why it is valuable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AA2FB-D478-4E61-BF96-536B005B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16173"/>
                </a:solidFill>
              </a:defRPr>
            </a:pPr>
            <a:r>
              <a:rPr sz="1800" b="0">
                <a:solidFill>
                  <a:srgbClr val="516173"/>
                </a:solidFill>
              </a:rPr>
              <a:t>Cleaner executive view</a:t>
            </a:r>
          </a:p>
          <a:p xmlns:a="http://schemas.openxmlformats.org/drawingml/2006/main">
            <a:pPr algn="l">
              <a:defRPr sz="1800" b="0">
                <a:solidFill>
                  <a:srgbClr val="516173"/>
                </a:solidFill>
              </a:defRPr>
            </a:pPr>
            <a:r>
              <a:rPr sz="1800" b="0">
                <a:solidFill>
                  <a:srgbClr val="516173"/>
                </a:solidFill>
              </a:rPr>
              <a:t>Less manual checking</a:t>
            </a:r>
          </a:p>
          <a:p xmlns:a="http://schemas.openxmlformats.org/drawingml/2006/main">
            <a:pPr algn="l">
              <a:defRPr sz="1800" b="0">
                <a:solidFill>
                  <a:srgbClr val="516173"/>
                </a:solidFill>
              </a:defRPr>
            </a:pPr>
            <a:r>
              <a:rPr sz="1800" b="0">
                <a:solidFill>
                  <a:srgbClr val="516173"/>
                </a:solidFill>
              </a:rPr>
              <a:t>Better module separation</a:t>
            </a:r>
          </a:p>
          <a:p xmlns:a="http://schemas.openxmlformats.org/drawingml/2006/main">
            <a:pPr algn="l">
              <a:defRPr sz="1800" b="0">
                <a:solidFill>
                  <a:srgbClr val="516173"/>
                </a:solidFill>
              </a:defRPr>
            </a:pPr>
            <a:r>
              <a:rPr sz="1800" b="0">
                <a:solidFill>
                  <a:srgbClr val="516173"/>
                </a:solidFill>
              </a:rPr>
              <a:t>Faster answers from live ERP</a:t>
            </a:r>
          </a:p>
          <a:p xmlns:a="http://schemas.openxmlformats.org/drawingml/2006/main">
            <a:pPr algn="l">
              <a:defRPr sz="1800" b="0">
                <a:solidFill>
                  <a:srgbClr val="516173"/>
                </a:solidFill>
              </a:defRPr>
            </a:pPr>
            <a:r>
              <a:rPr sz="1800" b="0">
                <a:solidFill>
                  <a:srgbClr val="516173"/>
                </a:solidFill>
              </a:rPr>
              <a:t>A professional base for future 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34AEB-DF25-4E38-8576-3BD01A5E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BE8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6CB1-51C5-49A6-AA56-52546C6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7DB2E-1691-4DB5-B07F-063ADDE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29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75F"/>
                </a:solidFill>
              </a:defRPr>
            </a:pPr>
            <a:r>
              <a:rPr sz="2250" b="1">
                <a:solidFill>
                  <a:srgbClr val="17375F"/>
                </a:solidFill>
              </a:rPr>
              <a:t>Ready for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C22E5-A1B9-4E19-AE56-D5188A0A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293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173"/>
                </a:solidFill>
              </a:defRPr>
            </a:pPr>
            <a:r>
              <a:rPr sz="1500" b="0">
                <a:solidFill>
                  <a:srgbClr val="516173"/>
                </a:solidFill>
              </a:rPr>
              <a:t>Next: validate final field mappings with finance and present the live dashboard with real management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317472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2026-08-23T04:57:25.8950000Z</dcterms:created>
  <dcterms:modified xsi:type="dcterms:W3CDTF">2026-08-23T04:57:25.8950000Z</dcterms:modified>
</coreProperties>
</file>