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15102824c642fe" /><Relationship Type="http://schemas.openxmlformats.org/officeDocument/2006/relationships/extended-properties" Target="/docProps/app.xml" Id="R01a359be42014bcc" /><Relationship Type="http://schemas.openxmlformats.org/officeDocument/2006/relationships/officeDocument" Target="/ppt/presentation.xml" Id="R8cfe1e41ada3486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207eb8ee97e404c"/>
  </p:sldMasterIdLst>
  <p:notesMasterIdLst>
    <p:notesMasterId xmlns:r="http://schemas.openxmlformats.org/officeDocument/2006/relationships" r:id="Rf3ff9dca9df242cb"/>
  </p:notesMasterIdLst>
  <p:sldIdLst>
    <p:sldId xmlns:r="http://schemas.openxmlformats.org/officeDocument/2006/relationships" id="256" r:id="R13454b4f079c4a6a"/>
    <p:sldId xmlns:r="http://schemas.openxmlformats.org/officeDocument/2006/relationships" id="257" r:id="R66abfeb3e51a43c4"/>
    <p:sldId xmlns:r="http://schemas.openxmlformats.org/officeDocument/2006/relationships" id="258" r:id="R51b863cb268c4b15"/>
    <p:sldId xmlns:r="http://schemas.openxmlformats.org/officeDocument/2006/relationships" id="259" r:id="R99662e97f2994bb2"/>
    <p:sldId xmlns:r="http://schemas.openxmlformats.org/officeDocument/2006/relationships" id="260" r:id="Re2d1e4b028134552"/>
    <p:sldId xmlns:r="http://schemas.openxmlformats.org/officeDocument/2006/relationships" id="261" r:id="R7ff22f60e5a946c7"/>
    <p:sldId xmlns:r="http://schemas.openxmlformats.org/officeDocument/2006/relationships" id="262" r:id="R51baef79c1b94948"/>
    <p:sldId xmlns:r="http://schemas.openxmlformats.org/officeDocument/2006/relationships" id="263" r:id="Rf823be450384477b"/>
    <p:sldId xmlns:r="http://schemas.openxmlformats.org/officeDocument/2006/relationships" id="264" r:id="R36f28ab24d9144e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0da61ce607b423e" /><Relationship Type="http://schemas.openxmlformats.org/officeDocument/2006/relationships/slideMaster" Target="/ppt/slideMasters/slideMaster1.xml" Id="R4207eb8ee97e404c" /><Relationship Type="http://schemas.openxmlformats.org/officeDocument/2006/relationships/notesMaster" Target="/ppt/notesMasters/notesMaster1.xml" Id="Rf3ff9dca9df242cb" /><Relationship Type="http://schemas.openxmlformats.org/officeDocument/2006/relationships/presProps" Target="/ppt/presProps.xml" Id="Red85c4cf0b964b36" /><Relationship Type="http://schemas.openxmlformats.org/officeDocument/2006/relationships/tableStyles" Target="/ppt/tableStyles.xml" Id="R6a1bf17bc94947c6" /><Relationship Type="http://schemas.openxmlformats.org/officeDocument/2006/relationships/slide" Target="/ppt/slides/slide1.xml" Id="R13454b4f079c4a6a" /><Relationship Type="http://schemas.openxmlformats.org/officeDocument/2006/relationships/slide" Target="/ppt/slides/slide2.xml" Id="R66abfeb3e51a43c4" /><Relationship Type="http://schemas.openxmlformats.org/officeDocument/2006/relationships/slide" Target="/ppt/slides/slide3.xml" Id="R51b863cb268c4b15" /><Relationship Type="http://schemas.openxmlformats.org/officeDocument/2006/relationships/slide" Target="/ppt/slides/slide4.xml" Id="R99662e97f2994bb2" /><Relationship Type="http://schemas.openxmlformats.org/officeDocument/2006/relationships/slide" Target="/ppt/slides/slide5.xml" Id="Re2d1e4b028134552" /><Relationship Type="http://schemas.openxmlformats.org/officeDocument/2006/relationships/slide" Target="/ppt/slides/slide6.xml" Id="R7ff22f60e5a946c7" /><Relationship Type="http://schemas.openxmlformats.org/officeDocument/2006/relationships/slide" Target="/ppt/slides/slide7.xml" Id="R51baef79c1b94948" /><Relationship Type="http://schemas.openxmlformats.org/officeDocument/2006/relationships/slide" Target="/ppt/slides/slide8.xml" Id="Rf823be450384477b" /><Relationship Type="http://schemas.openxmlformats.org/officeDocument/2006/relationships/slide" Target="/ppt/slides/slide9.xml" Id="R36f28ab24d9144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6afb677b52248f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b9b9388ec974c89" /><Relationship Type="http://schemas.openxmlformats.org/officeDocument/2006/relationships/notesMaster" Target="/ppt/notesMasters/notesMaster1.xml" Id="Re07e3f9898ae493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714998cd914537" /><Relationship Type="http://schemas.openxmlformats.org/officeDocument/2006/relationships/notesMaster" Target="/ppt/notesMasters/notesMaster1.xml" Id="R762efab403ce469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184d526cb184807" /><Relationship Type="http://schemas.openxmlformats.org/officeDocument/2006/relationships/notesMaster" Target="/ppt/notesMasters/notesMaster1.xml" Id="R849181faf25c49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93e159e44bd4bce" /><Relationship Type="http://schemas.openxmlformats.org/officeDocument/2006/relationships/notesMaster" Target="/ppt/notesMasters/notesMaster1.xml" Id="R4a8fed55d4ae4eb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e1145f1552e45e6" /><Relationship Type="http://schemas.openxmlformats.org/officeDocument/2006/relationships/notesMaster" Target="/ppt/notesMasters/notesMaster1.xml" Id="R6ddd8fea15404c4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fdf9e3f69a24ded" /><Relationship Type="http://schemas.openxmlformats.org/officeDocument/2006/relationships/notesMaster" Target="/ppt/notesMasters/notesMaster1.xml" Id="R5190a915d6b24e3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2f13948a9734ce2" /><Relationship Type="http://schemas.openxmlformats.org/officeDocument/2006/relationships/notesMaster" Target="/ppt/notesMasters/notesMaster1.xml" Id="R1091c789f58f489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c6c68fa6b3d4a6b" /><Relationship Type="http://schemas.openxmlformats.org/officeDocument/2006/relationships/notesMaster" Target="/ppt/notesMasters/notesMaster1.xml" Id="R9e9ba4aaf1104ea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2b2dd9e668b4370" /><Relationship Type="http://schemas.openxmlformats.org/officeDocument/2006/relationships/notesMaster" Target="/ppt/notesMasters/notesMaster1.xml" Id="Rbefff68c67ba4b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screenshot captured from http://localhost:3002/ag-health.</a:t>
            </a:r>
          </a:p>
          <a:p xmlns:a="http://schemas.openxmlformats.org/drawingml/2006/main">
            <a:r>
              <a:t>Visual direction informed by Apple.com and LouisVuitton.com: minimal hero layouts, premium whitespace, restrained typography, and product-first imagery.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Problem framing based on user project requirements and current AG Health ERP dashboard scope.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screenshot captured from http://localhost:3002/ag-health.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Slide based on current AG Health dashboard structure and user requirement for CEO-readable financial cards.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screenshot captured from http://localhost:3002/ag-health/inventory-report.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screenshot captured from http://localhost:3002/ag-health/production.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screenshot captured from http://localhost:3002/ag-health/sales-analysis.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screenshot captured from http://localhost:3002/ag-health with chatbot open.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Final synthesis based on user requirements and current project functionality.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4720717a14400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296796ef9484afb" /><Relationship Type="http://schemas.openxmlformats.org/officeDocument/2006/relationships/slideLayout" Target="/ppt/slideLayouts/slideLayout1.xml" Id="R89f47c81837f4a4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f47c81837f4a4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f47dcbb4214a83" /><Relationship Type="http://schemas.openxmlformats.org/officeDocument/2006/relationships/image" Target="/ppt/media/image.png" Id="R2ce5545c92db4aab" /><Relationship Type="http://schemas.openxmlformats.org/officeDocument/2006/relationships/notesSlide" Target="/ppt/notesSlides/notesSlide1.xml" Id="R6944fb92764a43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62138485d54f0b" /><Relationship Type="http://schemas.openxmlformats.org/officeDocument/2006/relationships/notesSlide" Target="/ppt/notesSlides/notesSlide2.xml" Id="R16a41d1d4ee84cd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9131902178423a" /><Relationship Type="http://schemas.openxmlformats.org/officeDocument/2006/relationships/image" Target="/ppt/media/image2.png" Id="Rce931e28d42d4541" /><Relationship Type="http://schemas.openxmlformats.org/officeDocument/2006/relationships/notesSlide" Target="/ppt/notesSlides/notesSlide3.xml" Id="R47674f4928bb419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1f04a823b4c27" /><Relationship Type="http://schemas.openxmlformats.org/officeDocument/2006/relationships/notesSlide" Target="/ppt/notesSlides/notesSlide4.xml" Id="Rf1f981240fa045f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0dc33b1c1e4ca3" /><Relationship Type="http://schemas.openxmlformats.org/officeDocument/2006/relationships/image" Target="/ppt/media/image3.png" Id="R179f45689b2a43d4" /><Relationship Type="http://schemas.openxmlformats.org/officeDocument/2006/relationships/notesSlide" Target="/ppt/notesSlides/notesSlide5.xml" Id="R6ac124ca622a414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18af0c45bc437e" /><Relationship Type="http://schemas.openxmlformats.org/officeDocument/2006/relationships/image" Target="/ppt/media/image4.png" Id="Rc5ef6721f5304690" /><Relationship Type="http://schemas.openxmlformats.org/officeDocument/2006/relationships/notesSlide" Target="/ppt/notesSlides/notesSlide6.xml" Id="Rdd0e11872f3643b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2b7b40cf3e440d" /><Relationship Type="http://schemas.openxmlformats.org/officeDocument/2006/relationships/image" Target="/ppt/media/image5.png" Id="R1ef77f23b6cb41b0" /><Relationship Type="http://schemas.openxmlformats.org/officeDocument/2006/relationships/notesSlide" Target="/ppt/notesSlides/notesSlide7.xml" Id="R3b3e4b1903874dd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a7f225b9a74aad" /><Relationship Type="http://schemas.openxmlformats.org/officeDocument/2006/relationships/image" Target="/ppt/media/image6.png" Id="Rcf46f233082940ff" /><Relationship Type="http://schemas.openxmlformats.org/officeDocument/2006/relationships/notesSlide" Target="/ppt/notesSlides/notesSlide8.xml" Id="Ra789f7f8e470452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525104e2094835" /><Relationship Type="http://schemas.openxmlformats.org/officeDocument/2006/relationships/notesSlide" Target="/ppt/notesSlides/notesSlide9.xml" Id="R10b06ba2334a4a1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D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237C4B-F381-43E8-A886-F65F99B7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4D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D1231B-71F1-404A-93BA-E1E2F9926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86375"/>
            <a:ext cx="152400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2D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70D7D4-4D32-41A4-ADB3-14B8A532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9A227"/>
                </a:solidFill>
              </a:defRPr>
            </a:pPr>
            <a:r>
              <a:rPr sz="900" b="1">
                <a:solidFill>
                  <a:srgbClr val="C9A227"/>
                </a:solidFill>
              </a:rPr>
              <a:t>AG HEALTH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60CE6C-07E8-4F3F-9A8A-0A5A17AE9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5334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ERP intelligence,</a:t>
            </a:r>
          </a:p>
          <a:p xmlns:a="http://schemas.openxmlformats.org/drawingml/2006/main">
            <a:pPr algn="l"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beautifully simple.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86184B-179C-4105-9F47-D3AA827C7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62350"/>
            <a:ext cx="476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7DFEA"/>
                </a:solidFill>
              </a:defRPr>
            </a:pPr>
            <a:r>
              <a:rPr sz="1650" b="0">
                <a:solidFill>
                  <a:srgbClr val="D7DFEA"/>
                </a:solidFill>
              </a:rPr>
              <a:t>A premium Business Central layer for sales, inventory, production, orders, freight, and fast answers.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73199A-0EB2-46E2-B4C6-901973E0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53000"/>
            <a:ext cx="295275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3B63"/>
                </a:solidFill>
              </a:defRPr>
            </a:pPr>
            <a:r>
              <a:rPr sz="1125" b="1">
                <a:solidFill>
                  <a:srgbClr val="173B63"/>
                </a:solidFill>
              </a:rPr>
              <a:t>Live dashboard • ERP data • CEO-ready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45EBB2-1B87-4B38-A828-5F939F178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971550"/>
            <a:ext cx="5124450" cy="37147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28374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6ADDC-1080-43ED-B63D-5438B1FEB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971550"/>
            <a:ext cx="51244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BAA179-5FFA-43BC-B938-34A60AAA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076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5D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F202D8-0033-4EB0-8789-B5EA60FEF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076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B4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F7BF1A-4D21-4EAD-9034-6BA620E2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1076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1B97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e5545c92db4aab"/>
          <a:srcRect xmlns:a="http://schemas.openxmlformats.org/drawingml/2006/main" l="3125" t="0" r="31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1314450"/>
            <a:ext cx="4857750" cy="3238500"/>
          </a:xfrm>
          <a:prstGeom xmlns:a="http://schemas.openxmlformats.org/drawingml/2006/main" prst="roundRect">
            <a:avLst>
              <a:gd name="adj" fmla="val 4706"/>
            </a:avLst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9D9378-D147-4A38-8348-C970758C6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AG HEALTH ERP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FE9FB4-A58D-4920-9647-318C309F9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246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766548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DFC135-F2E5-47BA-B822-0F6E9DA67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AB523A-855A-4ABD-9F4F-A4D8AD6C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86375"/>
            <a:ext cx="152400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2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C8A1EE-468B-4C0F-9B85-2040A6FEE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9A227"/>
                </a:solidFill>
              </a:defRPr>
            </a:pPr>
            <a:r>
              <a:rPr sz="900" b="1">
                <a:solidFill>
                  <a:srgbClr val="C9A227"/>
                </a:solidFill>
              </a:rPr>
              <a:t>THE 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88278F-6AB9-40B1-B59F-C40EEF37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6858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</a:defRPr>
            </a:pPr>
            <a:r>
              <a:rPr sz="3600" b="1">
                <a:solidFill>
                  <a:srgbClr val="111827"/>
                </a:solidFill>
              </a:rPr>
              <a:t>The data exists.</a:t>
            </a:r>
          </a:p>
          <a:p xmlns:a="http://schemas.openxmlformats.org/drawingml/2006/main">
            <a:pPr algn="l">
              <a:defRPr sz="3600" b="1">
                <a:solidFill>
                  <a:srgbClr val="111827"/>
                </a:solidFill>
              </a:defRPr>
            </a:pPr>
            <a:r>
              <a:rPr sz="3600" b="1">
                <a:solidFill>
                  <a:srgbClr val="111827"/>
                </a:solidFill>
              </a:rPr>
              <a:t>The decision still feels slow.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E11CF5-1DC6-456C-9922-4E3CC1754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95600"/>
            <a:ext cx="685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B7280"/>
                </a:solidFill>
              </a:defRPr>
            </a:pPr>
            <a:r>
              <a:rPr sz="1650" b="0">
                <a:solidFill>
                  <a:srgbClr val="6B7280"/>
                </a:solidFill>
              </a:rPr>
              <a:t>Business Central already holds the truth. The hard part is turning rows, ledgers, and reports into a view that anyone can read in seconds.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0B815-13BE-4E60-8C5F-98E96B856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05300"/>
            <a:ext cx="3000375" cy="1123950"/>
          </a:xfrm>
          <a:prstGeom xmlns:a="http://schemas.openxmlformats.org/drawingml/2006/main" prst="roundRect">
            <a:avLst>
              <a:gd name="adj" fmla="val 203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8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156341-F981-4713-BDF8-53ED9ABA4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339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B63"/>
                </a:solidFill>
              </a:defRPr>
            </a:pPr>
            <a:r>
              <a:rPr sz="1650" b="1">
                <a:solidFill>
                  <a:srgbClr val="173B63"/>
                </a:solidFill>
              </a:rPr>
              <a:t>Too many places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85597A-7846-4045-BE2D-B3000DB18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9149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</a:defRPr>
            </a:pPr>
            <a:r>
              <a:rPr sz="1125" b="0">
                <a:solidFill>
                  <a:srgbClr val="6B7280"/>
                </a:solidFill>
              </a:rPr>
              <a:t>Sales, stock, production, orders and finance live in separate views.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47A32A-4828-4072-B4F6-E082686F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305300"/>
            <a:ext cx="3000375" cy="1123950"/>
          </a:xfrm>
          <a:prstGeom xmlns:a="http://schemas.openxmlformats.org/drawingml/2006/main" prst="roundRect">
            <a:avLst>
              <a:gd name="adj" fmla="val 203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8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9EF392-1B51-4120-9EF6-4DD0B07E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5339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B63"/>
                </a:solidFill>
              </a:defRPr>
            </a:pPr>
            <a:r>
              <a:rPr sz="1650" b="1">
                <a:solidFill>
                  <a:srgbClr val="173B63"/>
                </a:solidFill>
              </a:rPr>
              <a:t>Too much interpretation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EC281E-606F-4D1D-87EC-45A64C03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9149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</a:defRPr>
            </a:pPr>
            <a:r>
              <a:rPr sz="1125" b="0">
                <a:solidFill>
                  <a:srgbClr val="6B7280"/>
                </a:solidFill>
              </a:rPr>
              <a:t>The reader has to know which table, filter, and source to trust.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1BDD90-5640-4F5F-B163-DAA345C00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305300"/>
            <a:ext cx="3000375" cy="1123950"/>
          </a:xfrm>
          <a:prstGeom xmlns:a="http://schemas.openxmlformats.org/drawingml/2006/main" prst="roundRect">
            <a:avLst>
              <a:gd name="adj" fmla="val 203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8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E76ED1-E1FD-4119-8262-0CD9006A1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5339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B63"/>
                </a:solidFill>
              </a:defRPr>
            </a:pPr>
            <a:r>
              <a:rPr sz="1650" b="1">
                <a:solidFill>
                  <a:srgbClr val="173B63"/>
                </a:solidFill>
              </a:rPr>
              <a:t>Too little executive clarity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8D8C75-B442-45B7-A1CF-89A43D88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149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</a:defRPr>
            </a:pPr>
            <a:r>
              <a:rPr sz="1125" b="0">
                <a:solidFill>
                  <a:srgbClr val="6B7280"/>
                </a:solidFill>
              </a:rPr>
              <a:t>The important answer should appear before the detailed report.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21D212-DC8B-4383-A465-DDE7D93B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CA3AF"/>
                </a:solidFill>
              </a:defRPr>
            </a:pPr>
            <a:r>
              <a:rPr sz="825" b="1">
                <a:solidFill>
                  <a:srgbClr val="9CA3AF"/>
                </a:solidFill>
              </a:rPr>
              <a:t>AG HEALTH ERP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6233A5-66E2-4708-97C7-D47FB8F2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246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9CA3AF"/>
                </a:solidFill>
              </a:defRPr>
            </a:pPr>
            <a:r>
              <a:rPr sz="825" b="1">
                <a:solidFill>
                  <a:srgbClr val="9CA3AF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398407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497AEE-02FB-436A-AF28-B6109566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DFAF59-EF5B-4F0D-8E1C-61A72DAA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86375"/>
            <a:ext cx="152400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2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48ABBD-469D-44D5-8597-95DB0AB4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9A227"/>
                </a:solidFill>
              </a:defRPr>
            </a:pPr>
            <a:r>
              <a:rPr sz="900" b="1">
                <a:solidFill>
                  <a:srgbClr val="C9A227"/>
                </a:solidFill>
              </a:rPr>
              <a:t>THE PRODUCT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955CC6-549B-4470-A01E-3C8F2EF4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4953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</a:defRPr>
            </a:pPr>
            <a:r>
              <a:rPr sz="3600" b="1">
                <a:solidFill>
                  <a:srgbClr val="111827"/>
                </a:solidFill>
              </a:rPr>
              <a:t>One calm workspace</a:t>
            </a:r>
          </a:p>
          <a:p xmlns:a="http://schemas.openxmlformats.org/drawingml/2006/main">
            <a:pPr algn="l">
              <a:defRPr sz="3600" b="1">
                <a:solidFill>
                  <a:srgbClr val="111827"/>
                </a:solidFill>
              </a:defRPr>
            </a:pPr>
            <a:r>
              <a:rPr sz="3600" b="1">
                <a:solidFill>
                  <a:srgbClr val="111827"/>
                </a:solidFill>
              </a:rPr>
              <a:t>for factory decisions.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92CC2C-FFE9-47DA-B25F-7E3A71F3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457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B7280"/>
                </a:solidFill>
              </a:defRPr>
            </a:pPr>
            <a:r>
              <a:rPr sz="1500" b="0">
                <a:solidFill>
                  <a:srgbClr val="6B7280"/>
                </a:solidFill>
              </a:rPr>
              <a:t>The app does not replace Business Central. It presents the mapped ERP data in a cleaner, faster, more human way.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766A86-7C91-4125-BCFA-3626B1F93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838200"/>
            <a:ext cx="5029200" cy="36576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D32692-F62C-4FC7-86A5-CACDB73DC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838200"/>
            <a:ext cx="5029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5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61B2C1-528B-4912-95C1-E439BB32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9429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5D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831B5F-CD41-4CB1-92CD-44065D8B0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9429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B4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E7F9CF-81ED-43C7-8616-B48DD9726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9429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1B97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931e28d42d4541"/>
          <a:srcRect xmlns:a="http://schemas.openxmlformats.org/drawingml/2006/main" l="3219" t="0" r="321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0" y="1181100"/>
            <a:ext cx="4762500" cy="3181350"/>
          </a:xfrm>
          <a:prstGeom xmlns:a="http://schemas.openxmlformats.org/drawingml/2006/main" prst="roundRect">
            <a:avLst>
              <a:gd name="adj" fmla="val 4790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D36625-9468-4E42-9CD0-7A847D848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190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BA5D03-AFA9-448D-95A9-28182E754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0"/>
            <a:ext cx="2781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CA3AF"/>
                </a:solidFill>
              </a:defRPr>
            </a:pPr>
            <a:r>
              <a:rPr sz="975" b="1">
                <a:solidFill>
                  <a:srgbClr val="9CA3AF"/>
                </a:solidFill>
              </a:rPr>
              <a:t>Financial snapshot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E85581-CA47-423E-8956-D84519822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624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9C308D-6367-4858-9B79-4E56362B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48200"/>
            <a:ext cx="190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9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C8C693-CE83-4605-814C-5990ED97A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48200"/>
            <a:ext cx="2781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CA3AF"/>
                </a:solidFill>
              </a:defRPr>
            </a:pPr>
            <a:r>
              <a:rPr sz="975" b="1">
                <a:solidFill>
                  <a:srgbClr val="9CA3AF"/>
                </a:solidFill>
              </a:rPr>
              <a:t>Operational health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4466DE-438F-434C-8515-0E213F69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149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05DA2B-AD37-4984-92C0-A16DB8951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00650"/>
            <a:ext cx="190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A2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D88A92-0ED0-4469-9AD5-FF795CC9F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00650"/>
            <a:ext cx="2781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9CA3AF"/>
                </a:solidFill>
              </a:defRPr>
            </a:pPr>
            <a:r>
              <a:rPr sz="975" b="1">
                <a:solidFill>
                  <a:srgbClr val="9CA3AF"/>
                </a:solidFill>
              </a:rPr>
              <a:t>AI-style data assistant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C145B9-FD05-477B-BC84-7E1BE42BB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673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F31720-C9B4-4CB5-8F84-B7EDBF37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CA3AF"/>
                </a:solidFill>
              </a:defRPr>
            </a:pPr>
            <a:r>
              <a:rPr sz="825" b="1">
                <a:solidFill>
                  <a:srgbClr val="9CA3AF"/>
                </a:solidFill>
              </a:rPr>
              <a:t>AG HEALTH ERP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5438CC-8847-43C0-8B51-CDEA363F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246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9CA3AF"/>
                </a:solidFill>
              </a:defRPr>
            </a:pPr>
            <a:r>
              <a:rPr sz="825" b="1">
                <a:solidFill>
                  <a:srgbClr val="9CA3AF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608260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F31A7D-D7A3-4E8A-BD48-1C808DDAF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B56F86-4188-4498-A49E-04CC4B7C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86375"/>
            <a:ext cx="152400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2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923446-0CC1-42DF-9757-D2B96D83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9A227"/>
                </a:solidFill>
              </a:defRPr>
            </a:pPr>
            <a:r>
              <a:rPr sz="900" b="1">
                <a:solidFill>
                  <a:srgbClr val="C9A227"/>
                </a:solidFill>
              </a:rPr>
              <a:t>EXECUTIVE 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C8AF02-853C-45FC-88A8-7A2CE5998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6286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</a:defRPr>
            </a:pPr>
            <a:r>
              <a:rPr sz="3600" b="1">
                <a:solidFill>
                  <a:srgbClr val="111827"/>
                </a:solidFill>
              </a:rPr>
              <a:t>The first screen answers</a:t>
            </a:r>
          </a:p>
          <a:p xmlns:a="http://schemas.openxmlformats.org/drawingml/2006/main">
            <a:pPr algn="l">
              <a:defRPr sz="3600" b="1">
                <a:solidFill>
                  <a:srgbClr val="111827"/>
                </a:solidFill>
              </a:defRPr>
            </a:pPr>
            <a:r>
              <a:rPr sz="3600" b="1">
                <a:solidFill>
                  <a:srgbClr val="111827"/>
                </a:solidFill>
              </a:rPr>
              <a:t>the boardroom question.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A96187-2913-47D5-AA34-721FD271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9080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B7280"/>
                </a:solidFill>
              </a:defRPr>
            </a:pPr>
            <a:r>
              <a:rPr sz="1500" b="0">
                <a:solidFill>
                  <a:srgbClr val="6B7280"/>
                </a:solidFill>
              </a:rPr>
              <a:t>Sales, receivables, bank balance, margin, freight, orders and inventory are separated so the viewer sees meaning — not clutter.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FDCCF3-F2D0-43AF-8FB2-0FC3B56B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409700"/>
            <a:ext cx="3143250" cy="819150"/>
          </a:xfrm>
          <a:prstGeom xmlns:a="http://schemas.openxmlformats.org/drawingml/2006/main" prst="roundRect">
            <a:avLst>
              <a:gd name="adj" fmla="val 279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8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085696-8CA7-4C4C-B4BE-B38A8EDA4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81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3B63"/>
                </a:solidFill>
              </a:defRPr>
            </a:pPr>
            <a:r>
              <a:rPr sz="1875" b="1">
                <a:solidFill>
                  <a:srgbClr val="173B63"/>
                </a:solidFill>
              </a:rPr>
              <a:t>Sales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329D61-C865-4D76-A914-CA9EFDCA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335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</a:defRPr>
            </a:pPr>
            <a:r>
              <a:rPr sz="1125" b="0">
                <a:solidFill>
                  <a:srgbClr val="6B7280"/>
                </a:solidFill>
              </a:rPr>
              <a:t>What revenue is moving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A56232-F2B9-49F5-9608-858885962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14600"/>
            <a:ext cx="3143250" cy="819150"/>
          </a:xfrm>
          <a:prstGeom xmlns:a="http://schemas.openxmlformats.org/drawingml/2006/main" prst="roundRect">
            <a:avLst>
              <a:gd name="adj" fmla="val 279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8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67B7E3-0F93-4F48-A339-D51927248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860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3B63"/>
                </a:solidFill>
              </a:defRPr>
            </a:pPr>
            <a:r>
              <a:rPr sz="1875" b="1">
                <a:solidFill>
                  <a:srgbClr val="173B63"/>
                </a:solidFill>
              </a:rPr>
              <a:t>Receivables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AC86C0-A3D4-42F5-BE78-92A8E4E9C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384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</a:defRPr>
            </a:pPr>
            <a:r>
              <a:rPr sz="1125" b="0">
                <a:solidFill>
                  <a:srgbClr val="6B7280"/>
                </a:solidFill>
              </a:rPr>
              <a:t>What money is pending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37EBC7-F060-498C-B1E4-EE5C9500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619500"/>
            <a:ext cx="3143250" cy="819150"/>
          </a:xfrm>
          <a:prstGeom xmlns:a="http://schemas.openxmlformats.org/drawingml/2006/main" prst="roundRect">
            <a:avLst>
              <a:gd name="adj" fmla="val 279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8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686105-82E7-41D9-9FFA-DA64C91C0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90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3B63"/>
                </a:solidFill>
              </a:defRPr>
            </a:pPr>
            <a:r>
              <a:rPr sz="1875" b="1">
                <a:solidFill>
                  <a:srgbClr val="173B63"/>
                </a:solidFill>
              </a:rPr>
              <a:t>Bank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4688FB-EF0A-43CA-82A4-E322E601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7280"/>
                </a:solidFill>
              </a:defRPr>
            </a:pPr>
            <a:r>
              <a:rPr sz="1125" b="0">
                <a:solidFill>
                  <a:srgbClr val="6B7280"/>
                </a:solidFill>
              </a:rPr>
              <a:t>What cash is visible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8D8AC9-0636-4B0D-990B-2348D379B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0060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3B63"/>
                </a:solidFill>
              </a:defRPr>
            </a:pPr>
            <a:r>
              <a:rPr sz="1350" b="1">
                <a:solidFill>
                  <a:srgbClr val="173B63"/>
                </a:solidFill>
              </a:rPr>
              <a:t>Only trusted ERP values should sit at the top. Calculated operational values are clearly described below.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322D5E-FC52-47F6-9C4E-5F03FA8CC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CA3AF"/>
                </a:solidFill>
              </a:defRPr>
            </a:pPr>
            <a:r>
              <a:rPr sz="825" b="1">
                <a:solidFill>
                  <a:srgbClr val="9CA3AF"/>
                </a:solidFill>
              </a:rPr>
              <a:t>AG HEALTH ERP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C5FF14-B0C2-463A-BB73-F7DDCDE0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246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9CA3AF"/>
                </a:solidFill>
              </a:defRPr>
            </a:pPr>
            <a:r>
              <a:rPr sz="825" b="1">
                <a:solidFill>
                  <a:srgbClr val="9CA3AF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9886270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F61646-7FFD-4157-8405-12694FA98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152FEF-2261-46EA-836A-5410BCBD1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86375"/>
            <a:ext cx="152400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2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B4CD8C-CE33-429E-84B0-951D73B1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9A227"/>
                </a:solidFill>
              </a:defRPr>
            </a:pPr>
            <a:r>
              <a:rPr sz="900" b="1">
                <a:solidFill>
                  <a:srgbClr val="C9A227"/>
                </a:solidFill>
              </a:rPr>
              <a:t>INVENTORY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986991-FDF4-4B5D-A56C-66EEE0198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4953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</a:defRPr>
            </a:pPr>
            <a:r>
              <a:rPr sz="3600" b="1">
                <a:solidFill>
                  <a:srgbClr val="111827"/>
                </a:solidFill>
              </a:rPr>
              <a:t>Stock becomes easier</a:t>
            </a:r>
          </a:p>
          <a:p xmlns:a="http://schemas.openxmlformats.org/drawingml/2006/main">
            <a:pPr algn="l">
              <a:defRPr sz="3600" b="1">
                <a:solidFill>
                  <a:srgbClr val="111827"/>
                </a:solidFill>
              </a:defRPr>
            </a:pPr>
            <a:r>
              <a:rPr sz="3600" b="1">
                <a:solidFill>
                  <a:srgbClr val="111827"/>
                </a:solidFill>
              </a:rPr>
              <a:t>to explain.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197C24-00F3-43DB-8CF0-2131A2307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71750"/>
            <a:ext cx="4857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B7280"/>
                </a:solidFill>
              </a:defRPr>
            </a:pPr>
            <a:r>
              <a:rPr sz="1500" b="0">
                <a:solidFill>
                  <a:srgbClr val="6B7280"/>
                </a:solidFill>
              </a:rPr>
              <a:t>Inventory is grouped by category, with stock quantity, unit cost, and value presented as a report people can audit.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7C054F-430E-4290-A5C8-EE4E0072B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742950"/>
            <a:ext cx="5076825" cy="369570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A441BF-F676-4125-BC3D-8CCFDDB60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742950"/>
            <a:ext cx="5076825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5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E65EC9-1A56-4B54-BEAA-2162B0CF6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847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5D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7925C4-A58E-4C98-83A7-444D0888D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847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B4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EB976D-547A-4943-9086-9E7B59B96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847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1B97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9f45689b2a43d4"/>
          <a:srcRect xmlns:a="http://schemas.openxmlformats.org/drawingml/2006/main" l="3310" t="0" r="33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00750" y="1085850"/>
            <a:ext cx="4810125" cy="3219450"/>
          </a:xfrm>
          <a:prstGeom xmlns:a="http://schemas.openxmlformats.org/drawingml/2006/main" prst="roundRect">
            <a:avLst>
              <a:gd name="adj" fmla="val 4734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063797-D605-44F7-80F8-910EB26E1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672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3B63"/>
                </a:solidFill>
              </a:defRPr>
            </a:pPr>
            <a:r>
              <a:rPr sz="1800" b="1">
                <a:solidFill>
                  <a:srgbClr val="173B63"/>
                </a:solidFill>
              </a:rPr>
              <a:t>What this page clarifies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C07D45-C510-44DF-9B96-EC65E8FBD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05350"/>
            <a:ext cx="4667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B7280"/>
                </a:solidFill>
              </a:defRPr>
            </a:pPr>
            <a:r>
              <a:rPr sz="1425" b="0">
                <a:solidFill>
                  <a:srgbClr val="6B7280"/>
                </a:solidFill>
              </a:rPr>
              <a:t>• Which category holds stock</a:t>
            </a:r>
          </a:p>
          <a:p xmlns:a="http://schemas.openxmlformats.org/drawingml/2006/main">
            <a:pPr algn="l">
              <a:defRPr sz="1425" b="0">
                <a:solidFill>
                  <a:srgbClr val="6B7280"/>
                </a:solidFill>
              </a:defRPr>
            </a:pPr>
            <a:r>
              <a:rPr sz="1425" b="0">
                <a:solidFill>
                  <a:srgbClr val="6B7280"/>
                </a:solidFill>
              </a:rPr>
              <a:t>• Which items carry the highest value</a:t>
            </a:r>
          </a:p>
          <a:p xmlns:a="http://schemas.openxmlformats.org/drawingml/2006/main">
            <a:pPr algn="l">
              <a:defRPr sz="1425" b="0">
                <a:solidFill>
                  <a:srgbClr val="6B7280"/>
                </a:solidFill>
              </a:defRPr>
            </a:pPr>
            <a:r>
              <a:rPr sz="1425" b="0">
                <a:solidFill>
                  <a:srgbClr val="6B7280"/>
                </a:solidFill>
              </a:rPr>
              <a:t>• Which quantities and rates need review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8DAB79-44AA-46CC-B5B8-2F194365A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CA3AF"/>
                </a:solidFill>
              </a:defRPr>
            </a:pPr>
            <a:r>
              <a:rPr sz="825" b="1">
                <a:solidFill>
                  <a:srgbClr val="9CA3AF"/>
                </a:solidFill>
              </a:rPr>
              <a:t>AG HEALTH ERP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1C4DDE-FE2F-45CA-AA5E-AC3770F3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246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9CA3AF"/>
                </a:solidFill>
              </a:defRPr>
            </a:pPr>
            <a:r>
              <a:rPr sz="825" b="1">
                <a:solidFill>
                  <a:srgbClr val="9CA3AF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768700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9165F7-4C00-4784-8223-BE9C953A8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2923F7-11AC-43E8-9461-A9B784EC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86375"/>
            <a:ext cx="152400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2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0F919A-4ABB-4B73-88D9-0CB3B6D1D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9A227"/>
                </a:solidFill>
              </a:defRPr>
            </a:pPr>
            <a:r>
              <a:rPr sz="900" b="1">
                <a:solidFill>
                  <a:srgbClr val="C9A227"/>
                </a:solidFill>
              </a:rPr>
              <a:t>PRODUCTION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C347E1-3F4B-4D55-A3C3-EC41E124B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5810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</a:defRPr>
            </a:pPr>
            <a:r>
              <a:rPr sz="3600" b="1">
                <a:solidFill>
                  <a:srgbClr val="111827"/>
                </a:solidFill>
              </a:rPr>
              <a:t>Output is shown</a:t>
            </a:r>
          </a:p>
          <a:p xmlns:a="http://schemas.openxmlformats.org/drawingml/2006/main">
            <a:pPr algn="l">
              <a:defRPr sz="3600" b="1">
                <a:solidFill>
                  <a:srgbClr val="111827"/>
                </a:solidFill>
              </a:defRPr>
            </a:pPr>
            <a:r>
              <a:rPr sz="3600" b="1">
                <a:solidFill>
                  <a:srgbClr val="111827"/>
                </a:solidFill>
              </a:rPr>
              <a:t>as pieces, not guesswork.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823117-50DF-4F14-BA1B-F28DDCF40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7175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B7280"/>
                </a:solidFill>
              </a:defRPr>
            </a:pPr>
            <a:r>
              <a:rPr sz="1500" b="0">
                <a:solidFill>
                  <a:srgbClr val="6B7280"/>
                </a:solidFill>
              </a:rPr>
              <a:t>The production page highlights monthly output, finished rows, and item-level production so teams can see what was made and when.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A65F4A-6D65-4701-ABA8-99044F5C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704850"/>
            <a:ext cx="5029200" cy="369570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87B6FE-3FF8-49DB-99B9-0AFE62B0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704850"/>
            <a:ext cx="5029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5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C8ACB5-F1C0-4144-93BF-864CA680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809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5D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1A2AC5-8425-419E-9CC2-033550194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809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B4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CC33B8-6A0B-4D62-AD2C-AA26447E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809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1B97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ef6721f5304690"/>
          <a:srcRect xmlns:a="http://schemas.openxmlformats.org/drawingml/2006/main" l="3772" t="0" r="377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57900" y="1047750"/>
            <a:ext cx="4762500" cy="3219450"/>
          </a:xfrm>
          <a:prstGeom xmlns:a="http://schemas.openxmlformats.org/drawingml/2006/main" prst="roundRect">
            <a:avLst>
              <a:gd name="adj" fmla="val 4734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DA8E70-918E-4882-9BE8-BA305C9F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95800"/>
            <a:ext cx="4781550" cy="9144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8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A756BD-8BEF-4653-9FDB-3A55CDD05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705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B63"/>
                </a:solidFill>
              </a:defRPr>
            </a:pPr>
            <a:r>
              <a:rPr sz="1650" b="1">
                <a:solidFill>
                  <a:srgbClr val="173B63"/>
                </a:solidFill>
              </a:rPr>
              <a:t>CEO-readable rule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FCC83D-90E3-4A3C-8844-10AAD1B5A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04825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B7280"/>
                </a:solidFill>
              </a:defRPr>
            </a:pPr>
            <a:r>
              <a:rPr sz="1200" b="0">
                <a:solidFill>
                  <a:srgbClr val="6B7280"/>
                </a:solidFill>
              </a:rPr>
              <a:t>Every chart should show the name and the value, with pcs used for production output.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D903E5-DC26-4B3B-8871-F84F47871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CA3AF"/>
                </a:solidFill>
              </a:defRPr>
            </a:pPr>
            <a:r>
              <a:rPr sz="825" b="1">
                <a:solidFill>
                  <a:srgbClr val="9CA3AF"/>
                </a:solidFill>
              </a:rPr>
              <a:t>AG HEALTH ERP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44706D-B090-4468-B6DD-15DC94920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246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9CA3AF"/>
                </a:solidFill>
              </a:defRPr>
            </a:pPr>
            <a:r>
              <a:rPr sz="825" b="1">
                <a:solidFill>
                  <a:srgbClr val="9CA3AF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942900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2E1C91-D035-4822-9C4E-FDE3D8864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E19118-8613-4229-A574-E81E66F08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86375"/>
            <a:ext cx="152400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2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9572E2-4374-4A23-B3DB-0F714F0E8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9A227"/>
                </a:solidFill>
              </a:defRPr>
            </a:pPr>
            <a:r>
              <a:rPr sz="900" b="1">
                <a:solidFill>
                  <a:srgbClr val="C9A227"/>
                </a:solidFill>
              </a:rPr>
              <a:t>SALES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D7EC82-D425-4B90-8912-5802EE72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5334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</a:defRPr>
            </a:pPr>
            <a:r>
              <a:rPr sz="3600" b="1">
                <a:solidFill>
                  <a:srgbClr val="111827"/>
                </a:solidFill>
              </a:rPr>
              <a:t>Sales analysis is built</a:t>
            </a:r>
          </a:p>
          <a:p xmlns:a="http://schemas.openxmlformats.org/drawingml/2006/main">
            <a:pPr algn="l">
              <a:defRPr sz="3600" b="1">
                <a:solidFill>
                  <a:srgbClr val="111827"/>
                </a:solidFill>
              </a:defRPr>
            </a:pPr>
            <a:r>
              <a:rPr sz="3600" b="1">
                <a:solidFill>
                  <a:srgbClr val="111827"/>
                </a:solidFill>
              </a:rPr>
              <a:t>for questions.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BF7EA5-6F08-4038-8CEA-5FFC564F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71750"/>
            <a:ext cx="5334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B7280"/>
                </a:solidFill>
              </a:defRPr>
            </a:pPr>
            <a:r>
              <a:rPr sz="1500" b="0">
                <a:solidFill>
                  <a:srgbClr val="6B7280"/>
                </a:solidFill>
              </a:rPr>
              <a:t>The sales view is structured for drill-down: Nepal to location, dealer, product, month and year — with cards, trend charts and product tables.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DC39DA-C5E1-4BC0-B27A-CC304E4A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781050"/>
            <a:ext cx="5076825" cy="369570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8AF402-1E37-4367-A241-1A7C9768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781050"/>
            <a:ext cx="5076825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5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A312C0-2BBC-423F-8483-AEA7C53F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885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5D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E64178-3AA2-4AE7-BAD5-F600DA2E8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885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B4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C57008-FE3E-4714-B2B9-BA6D69A1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885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1B97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f77f23b6cb41b0"/>
          <a:srcRect xmlns:a="http://schemas.openxmlformats.org/drawingml/2006/main" l="3310" t="0" r="33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0" y="1123950"/>
            <a:ext cx="4810125" cy="3219450"/>
          </a:xfrm>
          <a:prstGeom xmlns:a="http://schemas.openxmlformats.org/drawingml/2006/main" prst="roundRect">
            <a:avLst>
              <a:gd name="adj" fmla="val 4734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0E1DE9-2265-4BD1-BFAE-505B15130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67200"/>
            <a:ext cx="4095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3B63"/>
                </a:solidFill>
              </a:defRPr>
            </a:pPr>
            <a:r>
              <a:rPr sz="1125" b="1">
                <a:solidFill>
                  <a:srgbClr val="173B63"/>
                </a:solidFill>
              </a:rPr>
              <a:t>Product — Which item sold most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DBDEFA-67D3-4808-8BDD-E8F79188D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05350"/>
            <a:ext cx="4095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3B63"/>
                </a:solidFill>
              </a:defRPr>
            </a:pPr>
            <a:r>
              <a:rPr sz="1125" b="1">
                <a:solidFill>
                  <a:srgbClr val="173B63"/>
                </a:solidFill>
              </a:rPr>
              <a:t>Dealer — Who bought 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34B084-4DCD-4AAE-B381-A24E23873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0"/>
            <a:ext cx="4095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3B63"/>
                </a:solidFill>
              </a:defRPr>
            </a:pPr>
            <a:r>
              <a:rPr sz="1125" b="1">
                <a:solidFill>
                  <a:srgbClr val="173B63"/>
                </a:solidFill>
              </a:rPr>
              <a:t>Place — Where demand is strongest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0B907F-C4D6-4262-85B7-6F3BDC9A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CA3AF"/>
                </a:solidFill>
              </a:defRPr>
            </a:pPr>
            <a:r>
              <a:rPr sz="825" b="1">
                <a:solidFill>
                  <a:srgbClr val="9CA3AF"/>
                </a:solidFill>
              </a:rPr>
              <a:t>AG HEALTH ERP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64443A-6F96-4788-AC19-B9213300F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246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9CA3AF"/>
                </a:solidFill>
              </a:defRPr>
            </a:pPr>
            <a:r>
              <a:rPr sz="825" b="1">
                <a:solidFill>
                  <a:srgbClr val="9CA3AF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557526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CF47D5-4421-4FDF-83B9-610BC7F88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115D43-8579-4E17-8EF5-CE8E738A3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86375"/>
            <a:ext cx="152400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2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D732FF-75E0-4EEA-A3AA-7A7251AA3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9A227"/>
                </a:solidFill>
              </a:defRPr>
            </a:pPr>
            <a:r>
              <a:rPr sz="900" b="1">
                <a:solidFill>
                  <a:srgbClr val="C9A227"/>
                </a:solidFill>
              </a:rPr>
              <a:t>DATA ASSISTANT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3C1A3F-F1A3-4E0A-8AAB-05C0BA740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5048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827"/>
                </a:solidFill>
              </a:defRPr>
            </a:pPr>
            <a:r>
              <a:rPr sz="3600" b="1">
                <a:solidFill>
                  <a:srgbClr val="111827"/>
                </a:solidFill>
              </a:rPr>
              <a:t>Ask the system</a:t>
            </a:r>
          </a:p>
          <a:p xmlns:a="http://schemas.openxmlformats.org/drawingml/2006/main">
            <a:pPr algn="l">
              <a:defRPr sz="3600" b="1">
                <a:solidFill>
                  <a:srgbClr val="111827"/>
                </a:solidFill>
              </a:defRPr>
            </a:pPr>
            <a:r>
              <a:rPr sz="3600" b="1">
                <a:solidFill>
                  <a:srgbClr val="111827"/>
                </a:solidFill>
              </a:rPr>
              <a:t>in plain language.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BE2B62-37ED-4B24-840D-04A9E1C3D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71750"/>
            <a:ext cx="5095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B7280"/>
                </a:solidFill>
              </a:defRPr>
            </a:pPr>
            <a:r>
              <a:rPr sz="1500" b="0">
                <a:solidFill>
                  <a:srgbClr val="6B7280"/>
                </a:solidFill>
              </a:rPr>
              <a:t>The assistant answers from mapped ERP feeds only. It explains source, units, product names, values, and what is still not mapped.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CE30E7-B686-4BCF-B2BB-FDB4AAD11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704850"/>
            <a:ext cx="4933950" cy="369570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4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168EC8-18F0-4816-A1B5-43E722B8D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704850"/>
            <a:ext cx="49339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F5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CCB2D2-6ABE-4165-AD85-C27B77258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809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5D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AAC563-1A5D-4483-B7CF-9FCFB91F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809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B4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5E5B7C-E04C-4CF6-8ABC-7B212D6FF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809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1B97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46f233082940ff"/>
          <a:srcRect xmlns:a="http://schemas.openxmlformats.org/drawingml/2006/main" l="4697" t="0" r="469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1047750"/>
            <a:ext cx="4667250" cy="3219450"/>
          </a:xfrm>
          <a:prstGeom xmlns:a="http://schemas.openxmlformats.org/drawingml/2006/main" prst="roundRect">
            <a:avLst>
              <a:gd name="adj" fmla="val 4734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D2CAAE-97C5-4BCA-9B5D-1BFC91F5C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3B63"/>
                </a:solidFill>
              </a:defRPr>
            </a:pPr>
            <a:r>
              <a:rPr sz="1800" b="1">
                <a:solidFill>
                  <a:srgbClr val="173B63"/>
                </a:solidFill>
              </a:rPr>
              <a:t>Example questions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0E17D5-06E3-440E-9EC4-9F515E22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495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B7280"/>
                </a:solidFill>
              </a:defRPr>
            </a:pPr>
            <a:r>
              <a:rPr sz="1350" b="0">
                <a:solidFill>
                  <a:srgbClr val="6B7280"/>
                </a:solidFill>
              </a:rPr>
              <a:t>• What is the bank balance?</a:t>
            </a:r>
          </a:p>
          <a:p xmlns:a="http://schemas.openxmlformats.org/drawingml/2006/main">
            <a:pPr algn="l">
              <a:defRPr sz="1350" b="0">
                <a:solidFill>
                  <a:srgbClr val="6B7280"/>
                </a:solidFill>
              </a:defRPr>
            </a:pPr>
            <a:r>
              <a:rPr sz="1350" b="0">
                <a:solidFill>
                  <a:srgbClr val="6B7280"/>
                </a:solidFill>
              </a:rPr>
              <a:t>• Show M5 sales.</a:t>
            </a:r>
          </a:p>
          <a:p xmlns:a="http://schemas.openxmlformats.org/drawingml/2006/main">
            <a:pPr algn="l">
              <a:defRPr sz="1350" b="0">
                <a:solidFill>
                  <a:srgbClr val="6B7280"/>
                </a:solidFill>
              </a:defRPr>
            </a:pPr>
            <a:r>
              <a:rPr sz="1350" b="0">
                <a:solidFill>
                  <a:srgbClr val="6B7280"/>
                </a:solidFill>
              </a:rPr>
              <a:t>• What did we produce this month?</a:t>
            </a:r>
          </a:p>
          <a:p xmlns:a="http://schemas.openxmlformats.org/drawingml/2006/main">
            <a:pPr algn="l">
              <a:defRPr sz="1350" b="0">
                <a:solidFill>
                  <a:srgbClr val="6B7280"/>
                </a:solidFill>
              </a:defRPr>
            </a:pPr>
            <a:r>
              <a:rPr sz="1350" b="0">
                <a:solidFill>
                  <a:srgbClr val="6B7280"/>
                </a:solidFill>
              </a:rPr>
              <a:t>• Which inventory category has the highest value?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0ADEDA-D51F-4E3A-A8CE-E95BEFCBE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CA3AF"/>
                </a:solidFill>
              </a:defRPr>
            </a:pPr>
            <a:r>
              <a:rPr sz="825" b="1">
                <a:solidFill>
                  <a:srgbClr val="9CA3AF"/>
                </a:solidFill>
              </a:rPr>
              <a:t>AG HEALTH ERP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BC38FF-5392-4B2D-8D16-6CC0720B5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246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9CA3AF"/>
                </a:solidFill>
              </a:defRPr>
            </a:pPr>
            <a:r>
              <a:rPr sz="825" b="1">
                <a:solidFill>
                  <a:srgbClr val="9CA3AF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831105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D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B40B58-9C2E-4D7B-BCD0-44DD56E97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4D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E95CB7-B971-4140-898F-A8BD1A85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86375"/>
            <a:ext cx="152400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A2D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175DD9-32A3-4549-8781-AECEAAD5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9A227"/>
                </a:solidFill>
              </a:defRPr>
            </a:pPr>
            <a:r>
              <a:rPr sz="900" b="1">
                <a:solidFill>
                  <a:srgbClr val="C9A227"/>
                </a:solidFill>
              </a:rPr>
              <a:t>FINAL MESSAGE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54B256-CE5F-4F0E-895F-5B25210D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6858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A premium ERP layer</a:t>
            </a:r>
          </a:p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people will actually use.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D570DA-B191-40CE-A076-D773A56C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71800"/>
            <a:ext cx="685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7DFEA"/>
                </a:solidFill>
              </a:defRPr>
            </a:pPr>
            <a:r>
              <a:rPr sz="1650" b="0">
                <a:solidFill>
                  <a:srgbClr val="D7DFEA"/>
                </a:solidFill>
              </a:rPr>
              <a:t>AG Health gets one place for trusted numbers, clear reporting, product-level analysis, and faster conversations around the same ERP truth.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5D16F3-52B9-49A6-A6DD-4CE0516D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62100"/>
            <a:ext cx="3429000" cy="247650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9F24D0-82E2-4294-AAB6-BD2DCD798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981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3B63"/>
                </a:solidFill>
              </a:defRPr>
            </a:pPr>
            <a:r>
              <a:rPr sz="1875" b="1">
                <a:solidFill>
                  <a:srgbClr val="173B63"/>
                </a:solidFill>
              </a:rPr>
              <a:t>What makes it valuable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0F91B3-78DD-42FD-81AA-DA83C463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95550"/>
            <a:ext cx="2476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B7280"/>
                </a:solidFill>
              </a:defRPr>
            </a:pPr>
            <a:r>
              <a:rPr sz="1425" b="0">
                <a:solidFill>
                  <a:srgbClr val="6B7280"/>
                </a:solidFill>
              </a:rPr>
              <a:t>• Real ERP numbers</a:t>
            </a:r>
          </a:p>
          <a:p xmlns:a="http://schemas.openxmlformats.org/drawingml/2006/main">
            <a:pPr algn="l">
              <a:defRPr sz="1425" b="0">
                <a:solidFill>
                  <a:srgbClr val="6B7280"/>
                </a:solidFill>
              </a:defRPr>
            </a:pPr>
            <a:r>
              <a:rPr sz="1425" b="0">
                <a:solidFill>
                  <a:srgbClr val="6B7280"/>
                </a:solidFill>
              </a:rPr>
              <a:t>• Clear source labels</a:t>
            </a:r>
          </a:p>
          <a:p xmlns:a="http://schemas.openxmlformats.org/drawingml/2006/main">
            <a:pPr algn="l">
              <a:defRPr sz="1425" b="0">
                <a:solidFill>
                  <a:srgbClr val="6B7280"/>
                </a:solidFill>
              </a:defRPr>
            </a:pPr>
            <a:r>
              <a:rPr sz="1425" b="0">
                <a:solidFill>
                  <a:srgbClr val="6B7280"/>
                </a:solidFill>
              </a:rPr>
              <a:t>• Better charts and tables</a:t>
            </a:r>
          </a:p>
          <a:p xmlns:a="http://schemas.openxmlformats.org/drawingml/2006/main">
            <a:pPr algn="l">
              <a:defRPr sz="1425" b="0">
                <a:solidFill>
                  <a:srgbClr val="6B7280"/>
                </a:solidFill>
              </a:defRPr>
            </a:pPr>
            <a:r>
              <a:rPr sz="1425" b="0">
                <a:solidFill>
                  <a:srgbClr val="6B7280"/>
                </a:solidFill>
              </a:rPr>
              <a:t>• Chatbot for fast answers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C96C92-D1E1-427E-8606-4730BDEF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0"/>
            <a:ext cx="3000375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8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3B63"/>
                </a:solidFill>
              </a:defRPr>
            </a:pPr>
            <a:r>
              <a:rPr sz="1125" b="1">
                <a:solidFill>
                  <a:srgbClr val="173B63"/>
                </a:solidFill>
              </a:rPr>
              <a:t>Next: validate mappings, then present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6768DD-77EC-4D17-81CE-50CAE8D3F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AG HEALTH ERP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A0FE32-0222-463C-B53E-22624E375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246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3230535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2026-08-23T05:23:37.9310000Z</dcterms:created>
  <dcterms:modified xsi:type="dcterms:W3CDTF">2026-08-23T05:23:37.9310000Z</dcterms:modified>
</coreProperties>
</file>