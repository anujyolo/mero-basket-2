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22adebc0a040b4" /><Relationship Type="http://schemas.openxmlformats.org/officeDocument/2006/relationships/extended-properties" Target="/docProps/app.xml" Id="Reee7df9a697647a6" /><Relationship Type="http://schemas.openxmlformats.org/officeDocument/2006/relationships/officeDocument" Target="/ppt/presentation.xml" Id="R93861b26e27844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a6407a753c42f7"/>
  </p:sldMasterIdLst>
  <p:notesMasterIdLst>
    <p:notesMasterId xmlns:r="http://schemas.openxmlformats.org/officeDocument/2006/relationships" r:id="R102fc85afc88488e"/>
  </p:notesMasterIdLst>
  <p:sldIdLst>
    <p:sldId xmlns:r="http://schemas.openxmlformats.org/officeDocument/2006/relationships" id="256" r:id="R33dcc41efc634112"/>
    <p:sldId xmlns:r="http://schemas.openxmlformats.org/officeDocument/2006/relationships" id="257" r:id="R993a28c4a5f941a2"/>
    <p:sldId xmlns:r="http://schemas.openxmlformats.org/officeDocument/2006/relationships" id="258" r:id="R7064ed552e164290"/>
    <p:sldId xmlns:r="http://schemas.openxmlformats.org/officeDocument/2006/relationships" id="259" r:id="Rca8a89726b7a4c41"/>
    <p:sldId xmlns:r="http://schemas.openxmlformats.org/officeDocument/2006/relationships" id="260" r:id="R95e9198f9dd94dc5"/>
    <p:sldId xmlns:r="http://schemas.openxmlformats.org/officeDocument/2006/relationships" id="261" r:id="R6c8deabb7694406b"/>
    <p:sldId xmlns:r="http://schemas.openxmlformats.org/officeDocument/2006/relationships" id="262" r:id="R11f7e88ef4934a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923f3d09514bac" /><Relationship Type="http://schemas.openxmlformats.org/officeDocument/2006/relationships/slideMaster" Target="/ppt/slideMasters/slideMaster1.xml" Id="Rfba6407a753c42f7" /><Relationship Type="http://schemas.openxmlformats.org/officeDocument/2006/relationships/notesMaster" Target="/ppt/notesMasters/notesMaster1.xml" Id="R102fc85afc88488e" /><Relationship Type="http://schemas.openxmlformats.org/officeDocument/2006/relationships/presProps" Target="/ppt/presProps.xml" Id="R189ee2b6dd334a39" /><Relationship Type="http://schemas.openxmlformats.org/officeDocument/2006/relationships/tableStyles" Target="/ppt/tableStyles.xml" Id="R5015a5f775b84330" /><Relationship Type="http://schemas.openxmlformats.org/officeDocument/2006/relationships/slide" Target="/ppt/slides/slide1.xml" Id="R33dcc41efc634112" /><Relationship Type="http://schemas.openxmlformats.org/officeDocument/2006/relationships/slide" Target="/ppt/slides/slide2.xml" Id="R993a28c4a5f941a2" /><Relationship Type="http://schemas.openxmlformats.org/officeDocument/2006/relationships/slide" Target="/ppt/slides/slide3.xml" Id="R7064ed552e164290" /><Relationship Type="http://schemas.openxmlformats.org/officeDocument/2006/relationships/slide" Target="/ppt/slides/slide4.xml" Id="Rca8a89726b7a4c41" /><Relationship Type="http://schemas.openxmlformats.org/officeDocument/2006/relationships/slide" Target="/ppt/slides/slide5.xml" Id="R95e9198f9dd94dc5" /><Relationship Type="http://schemas.openxmlformats.org/officeDocument/2006/relationships/slide" Target="/ppt/slides/slide6.xml" Id="R6c8deabb7694406b" /><Relationship Type="http://schemas.openxmlformats.org/officeDocument/2006/relationships/slide" Target="/ppt/slides/slide7.xml" Id="R11f7e88ef4934a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6be76cac2446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ad226371eb4bf7" /><Relationship Type="http://schemas.openxmlformats.org/officeDocument/2006/relationships/notesMaster" Target="/ppt/notesMasters/notesMaster1.xml" Id="Rc7d73892cb6246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39e76d9fe74669" /><Relationship Type="http://schemas.openxmlformats.org/officeDocument/2006/relationships/notesMaster" Target="/ppt/notesMasters/notesMaster1.xml" Id="R7d2369e212df4c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b7da53a33f4a6f" /><Relationship Type="http://schemas.openxmlformats.org/officeDocument/2006/relationships/notesMaster" Target="/ppt/notesMasters/notesMaster1.xml" Id="Ra4088a26708a45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811e9339ed40ab" /><Relationship Type="http://schemas.openxmlformats.org/officeDocument/2006/relationships/notesMaster" Target="/ppt/notesMasters/notesMaster1.xml" Id="R3b556f485e654d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2b43dc24f940c2" /><Relationship Type="http://schemas.openxmlformats.org/officeDocument/2006/relationships/notesMaster" Target="/ppt/notesMasters/notesMaster1.xml" Id="Rdb945fb472c543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3159f8a8c24405" /><Relationship Type="http://schemas.openxmlformats.org/officeDocument/2006/relationships/notesMaster" Target="/ppt/notesMasters/notesMaster1.xml" Id="Rca5fcc2aed0248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c4ace674fe4f5c" /><Relationship Type="http://schemas.openxmlformats.org/officeDocument/2006/relationships/notesMaster" Target="/ppt/notesMasters/notesMaster1.xml" Id="R5bea57ed674346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UI captured from local AG Health dashboard at http://localhost:3002/ag-health.</a:t>
            </a:r>
          </a:p>
          <a:p xmlns:a="http://schemas.openxmlformats.org/drawingml/2006/main">
            <a:r>
              <a:t>- Project implementation files in this workspace: src/app/ag-health and src/server/business-central.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scope and UI behavior based on current AG Health dashboard implementation and user requirements in this project thread.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Module names and current routes from src/app/ag-health/_components.tsx.</a:t>
            </a:r>
          </a:p>
          <a:p xmlns:a="http://schemas.openxmlformats.org/drawingml/2006/main">
            <a:r>
              <a:t>- Data mapping descriptions from src/server/business-central/data.ts.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 layout and source labels from src/app/ag-health/page.tsx.</a:t>
            </a:r>
          </a:p>
          <a:p xmlns:a="http://schemas.openxmlformats.org/drawingml/2006/main">
            <a:r>
              <a:t>- Bank balance source selection from src/server/business-central/data.ts.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screen captured from http://localhost:3002/ag-health/production.</a:t>
            </a:r>
          </a:p>
          <a:p xmlns:a="http://schemas.openxmlformats.org/drawingml/2006/main">
            <a:r>
              <a:t>- Production data mapping from src/server/business-central/data.ts.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Sales screen captured from http://localhost:3002/ag-health/sales-analysis.</a:t>
            </a:r>
          </a:p>
          <a:p xmlns:a="http://schemas.openxmlformats.org/drawingml/2006/main">
            <a:r>
              <a:t>- Sales drill-down behavior from src/app/ag-health/sales-analysis/sales-line-explorer.tsx.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capabilities from current AG Health app implementation.</a:t>
            </a:r>
          </a:p>
          <a:p xmlns:a="http://schemas.openxmlformats.org/drawingml/2006/main">
            <a:r>
              <a:t>- Chatbot functionality from src/app/ag-health/AgHealthChatbot.tsx.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cd1c63829d4c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9102d5b8e94202" /><Relationship Type="http://schemas.openxmlformats.org/officeDocument/2006/relationships/slideLayout" Target="/ppt/slideLayouts/slideLayout1.xml" Id="R197c06abdcc64a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7c06abdcc64a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35da4159a4bbf" /><Relationship Type="http://schemas.openxmlformats.org/officeDocument/2006/relationships/image" Target="/ppt/media/image.png" Id="R5e6e3a325bda40e8" /><Relationship Type="http://schemas.openxmlformats.org/officeDocument/2006/relationships/notesSlide" Target="/ppt/notesSlides/notesSlide1.xml" Id="Rca504f591cca42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6896e89e24dba" /><Relationship Type="http://schemas.openxmlformats.org/officeDocument/2006/relationships/notesSlide" Target="/ppt/notesSlides/notesSlide2.xml" Id="Ra8b1dfb266574d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d5919198048b0" /><Relationship Type="http://schemas.openxmlformats.org/officeDocument/2006/relationships/notesSlide" Target="/ppt/notesSlides/notesSlide3.xml" Id="Rd1688cc807e04e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2ccc84d4f4d94" /><Relationship Type="http://schemas.openxmlformats.org/officeDocument/2006/relationships/notesSlide" Target="/ppt/notesSlides/notesSlide4.xml" Id="R7ea6d0c3fb194c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5984e9bd34b9c" /><Relationship Type="http://schemas.openxmlformats.org/officeDocument/2006/relationships/image" Target="/ppt/media/image2.png" Id="R18d6e91e8a7d45da" /><Relationship Type="http://schemas.openxmlformats.org/officeDocument/2006/relationships/notesSlide" Target="/ppt/notesSlides/notesSlide5.xml" Id="Rc368c205a5474a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538fafe384d6c" /><Relationship Type="http://schemas.openxmlformats.org/officeDocument/2006/relationships/image" Target="/ppt/media/image3.png" Id="R14ca1872dcfb4765" /><Relationship Type="http://schemas.openxmlformats.org/officeDocument/2006/relationships/notesSlide" Target="/ppt/notesSlides/notesSlide6.xml" Id="Ra544344870764e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157719c294877" /><Relationship Type="http://schemas.openxmlformats.org/officeDocument/2006/relationships/notesSlide" Target="/ppt/notesSlides/notesSlide7.xml" Id="Rc46b7ee5ed1a4c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D8EF4-9F32-4486-8578-1193CA37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46CF1-C4EF-4A16-9DD6-05D9C124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4800"/>
            <a:ext cx="2952750" cy="2952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41A4A2-8B34-4E2C-BBF7-0DE859F9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7B212-A83A-45EE-BA34-C43101B3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AG HEALTH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4B10A7-1189-4F05-9CB8-E96B0DEA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657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1827"/>
                </a:solidFill>
              </a:defRPr>
            </a:pPr>
            <a:r>
              <a:rPr sz="4200" b="1">
                <a:solidFill>
                  <a:srgbClr val="101827"/>
                </a:solidFill>
              </a:rPr>
              <a:t>ERP Intelligence Dashboard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89497-C1C2-4CBD-863C-4008C403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581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173"/>
                </a:solidFill>
              </a:defRPr>
            </a:pPr>
            <a:r>
              <a:rPr sz="1800" b="0">
                <a:solidFill>
                  <a:srgbClr val="526173"/>
                </a:solidFill>
              </a:rPr>
              <a:t>A clean executive view for live Business Central sales, stock, production, orders, freight, and data questions.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e3a325bda40e8"/>
          <a:srcRect xmlns:a="http://schemas.openxmlformats.org/drawingml/2006/main" l="2652" t="0" r="26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15125" y="1143000"/>
            <a:ext cx="4762500" cy="3143250"/>
          </a:xfrm>
          <a:prstGeom xmlns:a="http://schemas.openxmlformats.org/drawingml/2006/main" prst="roundRect">
            <a:avLst>
              <a:gd name="adj" fmla="val 484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A8D0A-5E76-4875-A692-14033148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3F67"/>
                </a:solidFill>
              </a:defRPr>
            </a:pPr>
            <a:r>
              <a:rPr sz="1800" b="1">
                <a:solidFill>
                  <a:srgbClr val="1F3F67"/>
                </a:solidFill>
              </a:rPr>
              <a:t>Built for fast decisions, clean reporting, and ERP-backed confidence.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245DA-9249-42C4-A55E-2FC7E97B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1/7</a:t>
            </a:r>
          </a:p>
        </p:txBody>
      </p:sp>
    </p:spTree>
    <p:extLst>
      <p:ext uri="{BB962C8B-B14F-4D97-AF65-F5344CB8AC3E}">
        <p14:creationId xmlns:p14="http://schemas.microsoft.com/office/powerpoint/2010/main" val="10952785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B78F2C-AF5F-4E1A-91EF-6E47C5DA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WHY THIS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C0792-5154-410B-AF73-7BE7512A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Clear signal, not spreadsheets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F3159-E641-4B5E-A33C-58535DCA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The project turns live ERP records into decisions that a CEO, manager, or finance lead can read quickly.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EFAC4-4027-4537-9299-9FDE397F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95300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94615-E381-467B-8B66-8518202A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Before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694F7-0563-4C77-84FC-C906045D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8FFF9-603A-4D52-80C8-AEF977AF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623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Data is spread across ERP pages and manual reports.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AAB2B-563B-48B7-A55B-97AB2AE7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ED16D5-B8E5-43A6-9F31-98F046BB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957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Important numbers are hard to explain quickly.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D18FF-16C9-4803-9FB5-A7C47629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631E4-3480-4CDC-816D-1674E13F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Teams lose time checking the same figures again.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3DDC1-86C9-4836-86A7-5A137B8E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67000"/>
            <a:ext cx="495300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D892-82E9-46F5-8737-BD0245B5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9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B981"/>
                </a:solidFill>
              </a:defRPr>
            </a:pPr>
            <a:r>
              <a:rPr sz="2250" b="1">
                <a:solidFill>
                  <a:srgbClr val="10B981"/>
                </a:solidFill>
              </a:rPr>
              <a:t>After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E8DDA8-A80F-4655-9C1E-AF29B667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38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FB074-333F-4D3F-8537-7F8B9DAB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623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Sales, cash, stock, production, and orders are in one 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CDAF1-F687-492E-94B7-59BE6993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7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3694E-F621-42F7-8291-A2958FD5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57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Every number has a plain source explanation.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96DF6D-CA82-49EB-8F99-E1B77925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05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6C4A3-A684-4413-B6A5-C9ECC622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291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Managers can ask the chatbot instead of hunting reports.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82C895-28AD-4B0E-9B8A-1DBDD3E0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2/7</a:t>
            </a:r>
          </a:p>
        </p:txBody>
      </p:sp>
    </p:spTree>
    <p:extLst>
      <p:ext uri="{BB962C8B-B14F-4D97-AF65-F5344CB8AC3E}">
        <p14:creationId xmlns:p14="http://schemas.microsoft.com/office/powerpoint/2010/main" val="14542657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91C4A-7B6B-468B-A655-1BAE0611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SYSTEM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15823-CCAF-4EC9-A84C-8C4EE60D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Focused modules, clean separation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C8BA1-15EC-488B-A176-D24D8F46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Each module is separated so inventory, packing, production, sales, freight, and orders do not get mixed.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35587-D7AB-4391-A081-05E8DE06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BF8BD-D08B-4F46-9ABB-511FF944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3F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30A38-4182-4063-8683-36B33817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Inventory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96E29-290A-44DD-8911-EFA62FA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Stock value, category split, item detail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1074F-132C-488F-81B4-FF403F41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813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2D83D-7EDF-48EE-8E03-53C413D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11BB7-896A-4CA8-8A01-C32342DE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52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Packing Materials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1DE2B-7FB0-4D23-B51D-2A0FA13E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337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PM-only stock, supplier, remaining qty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699AC-7DAE-4533-A220-271AF46B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7487C-B662-47AF-884D-F752322D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85007-E1E5-4768-8FBC-63DD4F6F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Production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AF9C27-ABF9-4284-9262-D03E7EC9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337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Output in pcs, finished goods, trend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AF458-CE7D-4A1B-B5C7-7E396A14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41BCA-17C8-4A7E-A53B-1389ECDD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E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4BFE4-02F9-4B8C-8AB3-3CB92A19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52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Sales Analysis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2197F-2414-45E8-8AB9-8711E3FF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337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Monthly sales, product, dealer, location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632FA-FC9A-4B1F-98E3-44FBB473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1FF4F-196C-407A-90AD-76EAABAF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784793-95D9-4242-B4E7-D7B87FBA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Freight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2A21C0-DBAE-47EE-B267-6A411DFC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434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Transport cost and related ledger rows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BBAE0D-DD25-44E0-9F26-CC5F5121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91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B1A4C0-71D7-498F-8205-E4BC2367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E92DDA-C9A9-47AD-A494-ABB98CBA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Orders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0D6EFD-881D-4809-80EF-8671B0B5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434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Pending, processing, completed, cancelled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577C2B-B167-4774-BE1C-4DFB41D5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91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E62A9-0D9A-4CAF-9E37-09D39F1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19B00-13E6-4647-8306-A0EABC38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Data Chatbot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4ED022-C416-43BF-BF14-93C60A53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434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3"/>
                </a:solidFill>
              </a:defRPr>
            </a:pPr>
            <a:r>
              <a:rPr sz="1125" b="0">
                <a:solidFill>
                  <a:srgbClr val="526173"/>
                </a:solidFill>
              </a:rPr>
              <a:t>Ask questions from mapped ERP feeds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E72A0E-4E92-4556-96F3-7A61345E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3/7</a:t>
            </a:r>
          </a:p>
        </p:txBody>
      </p:sp>
    </p:spTree>
    <p:extLst>
      <p:ext uri="{BB962C8B-B14F-4D97-AF65-F5344CB8AC3E}">
        <p14:creationId xmlns:p14="http://schemas.microsoft.com/office/powerpoint/2010/main" val="1349657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8F16A-8159-40DC-8229-BD6E8D66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EXECUTIVE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C82A9-8C5C-43D5-ADFC-682DFF9F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Financial truth sits at the 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009D2-7797-4AF6-92DF-7AD69C44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The upper dashboard keeps only the verified financial snapshot: sales, receivables, and bank balance.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3DAA8-21E5-4F7D-9FF5-8F1D833A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9527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0F8A9-0FE8-425F-B809-54F3D38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952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F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ADF66-7E5A-4427-9412-44FFEA66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9AAB"/>
                </a:solidFill>
              </a:defRPr>
            </a:pPr>
            <a:r>
              <a:rPr sz="1050" b="1">
                <a:solidFill>
                  <a:srgbClr val="8A9AAB"/>
                </a:solidFill>
              </a:rPr>
              <a:t>12-MONTH SALES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8D97C-3029-4665-86DC-237107E3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3F67"/>
                </a:solidFill>
              </a:defRPr>
            </a:pPr>
            <a:r>
              <a:rPr sz="2100" b="1">
                <a:solidFill>
                  <a:srgbClr val="1F3F67"/>
                </a:solidFill>
              </a:rPr>
              <a:t>ERP-backed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78C4D-213C-4184-949E-FBEB94A9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95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3"/>
                </a:solidFill>
              </a:defRPr>
            </a:pPr>
            <a:r>
              <a:rPr sz="1050" b="0">
                <a:solidFill>
                  <a:srgbClr val="526173"/>
                </a:solidFill>
              </a:rPr>
              <a:t>SalesDashboard feed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C82F1-9ECA-40D7-98DF-647954B7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81300"/>
            <a:ext cx="29527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7E120-29CF-48BE-A739-F323E175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81300"/>
            <a:ext cx="2952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52A62-FB4D-42EC-ACC2-7BDEF59C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289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9AAB"/>
                </a:solidFill>
              </a:defRPr>
            </a:pPr>
            <a:r>
              <a:rPr sz="1050" b="1">
                <a:solidFill>
                  <a:srgbClr val="8A9AAB"/>
                </a:solidFill>
              </a:rPr>
              <a:t>RECEIVABLES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DDF83-6447-433F-B9D1-88E6DF83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3147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3F67"/>
                </a:solidFill>
              </a:defRPr>
            </a:pPr>
            <a:r>
              <a:rPr sz="2100" b="1">
                <a:solidFill>
                  <a:srgbClr val="1F3F67"/>
                </a:solidFill>
              </a:rPr>
              <a:t>Trial Balance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51E18-AA03-4C0C-BC48-FD7BBD3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95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3"/>
                </a:solidFill>
              </a:defRPr>
            </a:pPr>
            <a:r>
              <a:rPr sz="1050" b="0">
                <a:solidFill>
                  <a:srgbClr val="526173"/>
                </a:solidFill>
              </a:rPr>
              <a:t>Customer money to receive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D2EE2-EA3E-4F30-BF99-0BCECFE3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81300"/>
            <a:ext cx="29527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4C2C3-51E0-4FA3-9B3C-9A84DA68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81300"/>
            <a:ext cx="2952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BE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4A26C-2F58-41E4-AE79-86A4CD44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9AAB"/>
                </a:solidFill>
              </a:defRPr>
            </a:pPr>
            <a:r>
              <a:rPr sz="1050" b="1">
                <a:solidFill>
                  <a:srgbClr val="8A9AAB"/>
                </a:solidFill>
              </a:rPr>
              <a:t>BANK BALANCE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13EC2C-FC15-43AB-8D60-644B1E7F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147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3F67"/>
                </a:solidFill>
              </a:defRPr>
            </a:pPr>
            <a:r>
              <a:rPr sz="2100" b="1">
                <a:solidFill>
                  <a:srgbClr val="1F3F67"/>
                </a:solidFill>
              </a:rPr>
              <a:t>Trial Balance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3C9288-4259-4DB1-8D40-B6090C8D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3"/>
                </a:solidFill>
              </a:defRPr>
            </a:pPr>
            <a:r>
              <a:rPr sz="1050" b="0">
                <a:solidFill>
                  <a:srgbClr val="526173"/>
                </a:solidFill>
              </a:rPr>
              <a:t>Bank Account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31F04C-EA0C-4BB4-8C10-5ACC73BF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3F67"/>
                </a:solidFill>
              </a:defRPr>
            </a:pPr>
            <a:r>
              <a:rPr sz="1800" b="1">
                <a:solidFill>
                  <a:srgbClr val="1F3F67"/>
                </a:solidFill>
              </a:rPr>
              <a:t>Operational figures like inventory value are kept lower because they are calculated from stock × cost rate, not treated as audited cash.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6D524-A887-40C6-BF1A-87C5C894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4/7</a:t>
            </a:r>
          </a:p>
        </p:txBody>
      </p:sp>
    </p:spTree>
    <p:extLst>
      <p:ext uri="{BB962C8B-B14F-4D97-AF65-F5344CB8AC3E}">
        <p14:creationId xmlns:p14="http://schemas.microsoft.com/office/powerpoint/2010/main" val="5642394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0D6A9-A557-480C-9BA3-614803B8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PRODUCTION AND OPERATIONS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E0131-FE7C-42E6-B154-0FE810B1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Output and stock without digging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95E65-0A67-4537-BEF4-06777D73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Production is shown in pcs, with exact bar values, product names, and detailed stock lines below the chart.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6e91e8a7d45da"/>
          <a:srcRect xmlns:a="http://schemas.openxmlformats.org/drawingml/2006/main" l="0" t="8154" r="0" b="81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571750"/>
            <a:ext cx="6191250" cy="323850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EF02C-B8DE-4685-85B6-0F6E8226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33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B9DCD-5091-4D8D-B9E9-F5EA4FA7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575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Monthly production output is labeled in pcs.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47C40-39E4-4CAC-A1F1-D266BCE8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359BD-DF1D-41A7-A36D-185634CF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099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7"/>
                </a:solidFill>
              </a:defRPr>
            </a:pPr>
            <a:r>
              <a:rPr sz="1500" b="0">
                <a:solidFill>
                  <a:srgbClr val="101827"/>
                </a:solidFill>
              </a:rPr>
              <a:t>Finished and semi-finished goods are separated.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D5476-36FE-44D3-B4EF-C208FA0D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38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9C7AF-215A-4D79-AFE7-8D1C98FC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7"/>
                </a:solidFill>
              </a:defRPr>
            </a:pPr>
            <a:r>
              <a:rPr sz="1500" b="0">
                <a:solidFill>
                  <a:srgbClr val="101827"/>
                </a:solidFill>
              </a:rPr>
              <a:t>Charts include exact values so nobody guesses from bar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828CD-3E4F-46FB-9897-83416DE2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91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1A758-F690-4787-A92C-C5F5140E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7"/>
                </a:solidFill>
              </a:defRPr>
            </a:pPr>
            <a:r>
              <a:rPr sz="1500" b="0">
                <a:solidFill>
                  <a:srgbClr val="101827"/>
                </a:solidFill>
              </a:rPr>
              <a:t>Tables remain below charts for detail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7DC1F-F028-4C54-9B08-D7142F4A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5/7</a:t>
            </a:r>
          </a:p>
        </p:txBody>
      </p:sp>
    </p:spTree>
    <p:extLst>
      <p:ext uri="{BB962C8B-B14F-4D97-AF65-F5344CB8AC3E}">
        <p14:creationId xmlns:p14="http://schemas.microsoft.com/office/powerpoint/2010/main" val="10847555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3F4937-041F-421D-98C6-DB18BE0F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SALES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604FB-EC72-4DC4-A064-781CEA18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Questions by product and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E0D2A-2795-41F4-8FBD-96CB5F66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The sales module is designed for practical questions like: how much did M5 sell, where did it sell, and which dealer drove it?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a1872dcfb4765"/>
          <a:srcRect xmlns:a="http://schemas.openxmlformats.org/drawingml/2006/main" l="0" t="2414" r="0" b="24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2457450"/>
            <a:ext cx="5524500" cy="3286125"/>
          </a:xfrm>
          <a:prstGeom xmlns:a="http://schemas.openxmlformats.org/drawingml/2006/main" prst="roundRect">
            <a:avLst>
              <a:gd name="adj" fmla="val 4638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61654-20C9-4CAE-A275-FE469D17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43200"/>
            <a:ext cx="4095750" cy="2333625"/>
          </a:xfrm>
          <a:prstGeom xmlns:a="http://schemas.openxmlformats.org/drawingml/2006/main" prst="roundRect">
            <a:avLst>
              <a:gd name="adj" fmla="val 65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6BC36-6F0F-4930-8742-A30EA483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7"/>
                </a:solidFill>
              </a:defRPr>
            </a:pPr>
            <a:r>
              <a:rPr sz="2100" b="1">
                <a:solidFill>
                  <a:srgbClr val="101827"/>
                </a:solidFill>
              </a:rPr>
              <a:t>Drill-down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E4097-68C0-43FF-B9BE-182E17A4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0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70A29-9588-4CF9-BF19-DB188687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338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Nepal → city → dealer → 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A314-F9DD-4FCC-8350-BFED4EFE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D1254-7F96-495A-A227-F4F4B9DA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910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Monthly and yearly sales trend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342AC-C03C-43C9-955E-F6567FE4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E7664-3C3A-45AD-86B6-D44ED779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7"/>
                </a:solidFill>
              </a:defRPr>
            </a:pPr>
            <a:r>
              <a:rPr sz="1425" b="0">
                <a:solidFill>
                  <a:srgbClr val="101827"/>
                </a:solidFill>
              </a:rPr>
              <a:t>Top product, quantity sold, contribution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1A998-62A0-46E1-BC3B-ADDDDD85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6/7</a:t>
            </a:r>
          </a:p>
        </p:txBody>
      </p:sp>
    </p:spTree>
    <p:extLst>
      <p:ext uri="{BB962C8B-B14F-4D97-AF65-F5344CB8AC3E}">
        <p14:creationId xmlns:p14="http://schemas.microsoft.com/office/powerpoint/2010/main" val="21057733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4A768-D818-480C-A487-6F23F0F6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READY TO PRESENT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B1AFA-D55F-43F5-9E19-4DDB446E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09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7"/>
                </a:solidFill>
              </a:defRPr>
            </a:pPr>
            <a:r>
              <a:rPr sz="3225" b="1">
                <a:solidFill>
                  <a:srgbClr val="101827"/>
                </a:solidFill>
              </a:rPr>
              <a:t>The project is more than a dashboard — it is a decision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EDF85-EF07-45BA-8810-C20D6704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00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3"/>
                </a:solidFill>
              </a:defRPr>
            </a:pPr>
            <a:r>
              <a:rPr sz="1500" b="0">
                <a:solidFill>
                  <a:srgbClr val="526173"/>
                </a:solidFill>
              </a:rPr>
              <a:t>It connects ERP data, clear dashboards, separated modules, and a working data chatbot into one AG Health reporting experience.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D68FB-0440-4DE3-B2C3-D3D80764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981075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6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058D5-3692-4685-9A85-E9E0D05A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05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Benefits to highlight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598B3-DAE8-4EED-A5EE-D0BFF93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3F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20E6D-0B03-44A8-83A7-D0371F54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7665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7"/>
                </a:solidFill>
              </a:defRPr>
            </a:pPr>
            <a:r>
              <a:rPr sz="1575" b="0">
                <a:solidFill>
                  <a:srgbClr val="101827"/>
                </a:solidFill>
              </a:rPr>
              <a:t>CEO-friendly: fewer numbers, clearer meaning, faster reading.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B2E41-131A-4DD3-B318-82972EE2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91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319A5-58D3-45CB-9531-A020B9FF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148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7"/>
                </a:solidFill>
              </a:defRPr>
            </a:pPr>
            <a:r>
              <a:rPr sz="1575" b="0">
                <a:solidFill>
                  <a:srgbClr val="101827"/>
                </a:solidFill>
              </a:rPr>
              <a:t>ERP-backed: answers come from mapped Business Central feeds.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C6CE5-96DF-4DD5-8402-3CCE64CF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29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E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41C0B8-D464-439F-A842-9C55BF60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5295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7"/>
                </a:solidFill>
              </a:defRPr>
            </a:pPr>
            <a:r>
              <a:rPr sz="1575" b="0">
                <a:solidFill>
                  <a:srgbClr val="101827"/>
                </a:solidFill>
              </a:rPr>
              <a:t>Scalable: modules can grow page by page without confusing the dashboard.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B3C3F5-ED02-44FE-B9CD-95383D3B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02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3F67"/>
                </a:solidFill>
              </a:defRPr>
            </a:pPr>
            <a:r>
              <a:rPr sz="1800" b="1">
                <a:solidFill>
                  <a:srgbClr val="1F3F67"/>
                </a:solidFill>
              </a:rPr>
              <a:t>Recommended next step: validate final ERP field mappings with finance, then demo the dashboard and chatbot using real management questions.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916D8-AF9E-43E7-AAFF-68C03D65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4A3B8"/>
                </a:solidFill>
              </a:defRPr>
            </a:pPr>
            <a:r>
              <a:rPr sz="900" b="1">
                <a:solidFill>
                  <a:srgbClr val="94A3B8"/>
                </a:solidFill>
              </a:rPr>
              <a:t>AG Health ERP Dashboard · 7/7</a:t>
            </a:r>
          </a:p>
        </p:txBody>
      </p:sp>
    </p:spTree>
    <p:extLst>
      <p:ext uri="{BB962C8B-B14F-4D97-AF65-F5344CB8AC3E}">
        <p14:creationId xmlns:p14="http://schemas.microsoft.com/office/powerpoint/2010/main" val="13087602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2026-08-23T04:48:41.4500000Z</dcterms:created>
  <dcterms:modified xsi:type="dcterms:W3CDTF">2026-08-23T04:48:41.4500000Z</dcterms:modified>
</coreProperties>
</file>